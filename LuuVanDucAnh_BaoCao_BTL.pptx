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</a:t>
            </a:r>
          </a:p>
          <a:p>
            <a:pPr>
              <a:spcBef>
                <a:spcPts val="300"/>
              </a:spcBef>
              <a:defRPr sz="12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KHOA CÔNG NGHỆ THÔNG TIN • BỘ MÔN KHOA HỌC MÁY TÍNH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754880" cy="384048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BÁO CÁO BÀI TẬP LỚN • HỌC PHẦN HỌC MÁY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PROJECT 23: PHÂN NHÓM TRẠM CITI BIKE</a:t>
            </a:r>
            <a:br/>
            <a:r>
              <a:rPr>
                <a:latin typeface="Times New Roman"/>
              </a:rPr>
              <a:t>THEO HỒ SƠ SỬ DỤNG</a:t>
            </a:r>
          </a:p>
          <a:p>
            <a:pPr>
              <a:spcBef>
                <a:spcPts val="800"/>
              </a:spcBef>
              <a:defRPr sz="15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Ứng dụng Thuật toán K-Means Clustering tối ưu hóa điều phối giao thông đô thị New York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69848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0241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THÔNG TIN BẢO VỆ ĐỀ TÀI</a:t>
            </a:r>
          </a:p>
          <a:p>
            <a:pPr>
              <a:spcBef>
                <a:spcPts val="600"/>
              </a:spcBef>
              <a:defRPr sz="1350" b="1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Sinh </a:t>
            </a:r>
            <a:r>
              <a:rPr dirty="0" err="1">
                <a:latin typeface="Times New Roman"/>
              </a:rPr>
              <a:t>viên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thực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hiện</a:t>
            </a:r>
            <a:r>
              <a:rPr dirty="0">
                <a:latin typeface="Times New Roman"/>
              </a:rPr>
              <a:t>: LƯU VĂN ĐỨC ANH    |    </a:t>
            </a:r>
            <a:r>
              <a:rPr dirty="0" err="1">
                <a:latin typeface="Times New Roman"/>
              </a:rPr>
              <a:t>Mã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sinh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viên</a:t>
            </a:r>
            <a:r>
              <a:rPr dirty="0">
                <a:latin typeface="Times New Roman"/>
              </a:rPr>
              <a:t>: 12523001    |    </a:t>
            </a:r>
            <a:r>
              <a:rPr dirty="0" err="1">
                <a:latin typeface="Times New Roman"/>
              </a:rPr>
              <a:t>Lớp</a:t>
            </a:r>
            <a:r>
              <a:rPr dirty="0">
                <a:latin typeface="Times New Roman"/>
              </a:rPr>
              <a:t>: 12523W.1</a:t>
            </a:r>
          </a:p>
          <a:p>
            <a:pPr>
              <a:spcBef>
                <a:spcPts val="400"/>
              </a:spcBef>
              <a:defRPr sz="1350" b="1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dirty="0" err="1">
                <a:latin typeface="Times New Roman"/>
              </a:rPr>
              <a:t>Giảng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viên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hướng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dẫn</a:t>
            </a:r>
            <a:r>
              <a:rPr dirty="0">
                <a:latin typeface="Times New Roman"/>
              </a:rPr>
              <a:t>: PGS. TS. NGUYỄN VĂN HẬU</a:t>
            </a:r>
          </a:p>
          <a:p>
            <a:pPr>
              <a:spcBef>
                <a:spcPts val="400"/>
              </a:spcBef>
              <a:defRPr sz="1250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dirty="0" err="1">
                <a:latin typeface="Times New Roman"/>
              </a:rPr>
              <a:t>Địa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điểm</a:t>
            </a:r>
            <a:r>
              <a:rPr dirty="0">
                <a:latin typeface="Times New Roman"/>
              </a:rPr>
              <a:t>: Trường </a:t>
            </a:r>
            <a:r>
              <a:rPr dirty="0" err="1">
                <a:latin typeface="Times New Roman"/>
              </a:rPr>
              <a:t>Đại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học</a:t>
            </a:r>
            <a:r>
              <a:rPr dirty="0">
                <a:latin typeface="Times New Roman"/>
              </a:rPr>
              <a:t> Công </a:t>
            </a:r>
            <a:r>
              <a:rPr dirty="0" err="1">
                <a:latin typeface="Times New Roman"/>
              </a:rPr>
              <a:t>nghệ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Kỹ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thuật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Hưng</a:t>
            </a:r>
            <a:r>
              <a:rPr dirty="0">
                <a:latin typeface="Times New Roman"/>
              </a:rPr>
              <a:t> Yên — </a:t>
            </a:r>
            <a:r>
              <a:rPr dirty="0" err="1">
                <a:latin typeface="Times New Roman"/>
              </a:rPr>
              <a:t>Tháng</a:t>
            </a:r>
            <a:r>
              <a:rPr dirty="0">
                <a:latin typeface="Times New Roman"/>
              </a:rPr>
              <a:t>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Nội</a:t>
            </a:r>
            <a:r>
              <a:rPr dirty="0">
                <a:latin typeface="Times New Roman"/>
              </a:rPr>
              <a:t> Dung Báo Cáo 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2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2926080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1. </a:t>
            </a:r>
            <a:r>
              <a:rPr sz="1700" dirty="0" err="1">
                <a:latin typeface="Times New Roman"/>
              </a:rPr>
              <a:t>Đặt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Vấn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Đề</a:t>
            </a:r>
            <a:r>
              <a:rPr sz="1700" dirty="0">
                <a:latin typeface="Times New Roman"/>
              </a:rPr>
              <a:t> &amp; </a:t>
            </a:r>
            <a:r>
              <a:rPr sz="1700" dirty="0" err="1">
                <a:latin typeface="Times New Roman"/>
              </a:rPr>
              <a:t>Bài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Toán</a:t>
            </a:r>
            <a:endParaRPr sz="1700" dirty="0">
              <a:latin typeface="Times New Roman"/>
            </a:endParaRP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Hiện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hệ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thống</a:t>
            </a:r>
            <a:r>
              <a:rPr sz="1700" dirty="0">
                <a:latin typeface="Times New Roman"/>
              </a:rPr>
              <a:t> Citi Bike New York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sự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bằng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508760"/>
            <a:ext cx="2926080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2. </a:t>
            </a:r>
            <a:r>
              <a:rPr sz="1700" dirty="0" err="1">
                <a:latin typeface="Times New Roman"/>
              </a:rPr>
              <a:t>Dữ</a:t>
            </a:r>
            <a:r>
              <a:rPr sz="1700" dirty="0">
                <a:latin typeface="Times New Roman"/>
              </a:rPr>
              <a:t> Liệu &amp; </a:t>
            </a:r>
            <a:r>
              <a:rPr sz="1700" dirty="0" err="1">
                <a:latin typeface="Times New Roman"/>
              </a:rPr>
              <a:t>Đặc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Trưng</a:t>
            </a:r>
            <a:endParaRPr sz="1700" dirty="0">
              <a:latin typeface="Times New Roman"/>
            </a:endParaRP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Tổng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hợp</a:t>
            </a:r>
            <a:r>
              <a:rPr sz="1700" dirty="0">
                <a:latin typeface="Times New Roman"/>
              </a:rPr>
              <a:t> 5.6M </a:t>
            </a:r>
            <a:r>
              <a:rPr sz="1700" dirty="0" err="1">
                <a:latin typeface="Times New Roman"/>
              </a:rPr>
              <a:t>chuyến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thành</a:t>
            </a:r>
            <a:r>
              <a:rPr sz="1700" dirty="0">
                <a:latin typeface="Times New Roman"/>
              </a:rPr>
              <a:t> 8 </a:t>
            </a:r>
            <a:r>
              <a:rPr sz="1700" dirty="0" err="1">
                <a:latin typeface="Times New Roman"/>
              </a:rPr>
              <a:t>đặc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trưng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tỷ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lệ</a:t>
            </a:r>
            <a:r>
              <a:rPr sz="1700" dirty="0">
                <a:latin typeface="Times New Roman"/>
              </a:rPr>
              <a:t> (Rate features).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508760"/>
            <a:ext cx="2926080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3. Phương Pháp K-Means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Nguyên </a:t>
            </a:r>
            <a:r>
              <a:rPr sz="1700" dirty="0" err="1">
                <a:latin typeface="Times New Roman"/>
              </a:rPr>
              <a:t>lý</a:t>
            </a:r>
            <a:r>
              <a:rPr sz="1700" dirty="0">
                <a:latin typeface="Times New Roman"/>
              </a:rPr>
              <a:t> WCSS, </a:t>
            </a:r>
            <a:r>
              <a:rPr sz="1700" dirty="0" err="1">
                <a:latin typeface="Times New Roman"/>
              </a:rPr>
              <a:t>thuật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toán</a:t>
            </a:r>
            <a:r>
              <a:rPr sz="1700" dirty="0">
                <a:latin typeface="Times New Roman"/>
              </a:rPr>
              <a:t> Lloyd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chiến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lược</a:t>
            </a:r>
            <a:r>
              <a:rPr sz="1700" dirty="0">
                <a:latin typeface="Times New Roman"/>
              </a:rPr>
              <a:t> Anti-Leakage.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2926080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59669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4. </a:t>
            </a:r>
            <a:r>
              <a:rPr sz="1700" dirty="0" err="1">
                <a:latin typeface="Times New Roman"/>
              </a:rPr>
              <a:t>Bốn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Thí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Nghiệm</a:t>
            </a:r>
            <a:r>
              <a:rPr sz="1700" dirty="0">
                <a:latin typeface="Times New Roman"/>
              </a:rPr>
              <a:t> Khoa Học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Volume vs Profile, Elbow/Silhouette,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ổn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định</a:t>
            </a:r>
            <a:r>
              <a:rPr sz="1700" dirty="0">
                <a:latin typeface="Times New Roman"/>
              </a:rPr>
              <a:t> Seed/</a:t>
            </a:r>
            <a:r>
              <a:rPr sz="1700" dirty="0" err="1">
                <a:latin typeface="Times New Roman"/>
              </a:rPr>
              <a:t>Mùa</a:t>
            </a:r>
            <a:r>
              <a:rPr sz="1700" dirty="0">
                <a:latin typeface="Times New Roman"/>
              </a:rPr>
              <a:t> &amp; Median.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39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931919"/>
            <a:ext cx="2926080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59669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5. Web Serving &amp; Demo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Giao </a:t>
            </a:r>
            <a:r>
              <a:rPr sz="1700" dirty="0" err="1">
                <a:latin typeface="Times New Roman"/>
              </a:rPr>
              <a:t>diện</a:t>
            </a:r>
            <a:r>
              <a:rPr sz="1700" dirty="0">
                <a:latin typeface="Times New Roman"/>
              </a:rPr>
              <a:t> 3 </a:t>
            </a:r>
            <a:r>
              <a:rPr sz="1700" dirty="0" err="1">
                <a:latin typeface="Times New Roman"/>
              </a:rPr>
              <a:t>màn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hình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tương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tác</a:t>
            </a:r>
            <a:r>
              <a:rPr sz="1700" dirty="0">
                <a:latin typeface="Times New Roman"/>
              </a:rPr>
              <a:t> Leaflet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kiểm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thử</a:t>
            </a:r>
            <a:r>
              <a:rPr sz="1700" dirty="0">
                <a:latin typeface="Times New Roman"/>
              </a:rPr>
              <a:t> 7 test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749039"/>
            <a:ext cx="33832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19"/>
            <a:ext cx="292608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D97706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6. </a:t>
            </a:r>
            <a:r>
              <a:rPr sz="1700" dirty="0" err="1">
                <a:latin typeface="Times New Roman"/>
              </a:rPr>
              <a:t>Kết</a:t>
            </a:r>
            <a:r>
              <a:rPr sz="1700" dirty="0">
                <a:latin typeface="Times New Roman"/>
              </a:rPr>
              <a:t> Luận &amp; </a:t>
            </a:r>
            <a:r>
              <a:rPr sz="1700" dirty="0" err="1">
                <a:latin typeface="Times New Roman"/>
              </a:rPr>
              <a:t>Hướng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Mở</a:t>
            </a:r>
            <a:endParaRPr sz="1700" dirty="0">
              <a:latin typeface="Times New Roman"/>
            </a:endParaRP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Đóng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góp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thực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tiễn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điều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hướng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phát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triển</a:t>
            </a:r>
            <a:r>
              <a:rPr sz="17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6235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Đặt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Vấn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Đề</a:t>
            </a:r>
            <a:r>
              <a:rPr dirty="0">
                <a:latin typeface="Times New Roman"/>
              </a:rPr>
              <a:t>: </a:t>
            </a:r>
            <a:r>
              <a:rPr dirty="0" err="1">
                <a:latin typeface="Times New Roman"/>
              </a:rPr>
              <a:t>Bài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Toán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Điều</a:t>
            </a:r>
            <a:r>
              <a:rPr dirty="0">
                <a:latin typeface="Times New Roman"/>
              </a:rPr>
              <a:t> Phối Xe </a:t>
            </a:r>
            <a:r>
              <a:rPr dirty="0" err="1">
                <a:latin typeface="Times New Roman"/>
              </a:rPr>
              <a:t>Đạp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Đô</a:t>
            </a:r>
            <a:r>
              <a:rPr dirty="0">
                <a:latin typeface="Times New Roman"/>
              </a:rPr>
              <a:t> Thị (Rebalancing)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3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508760"/>
            <a:ext cx="457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HỆ THỐNG CITI BIKE (NEW YORK)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Quy </a:t>
            </a:r>
            <a:r>
              <a:rPr sz="1700" dirty="0" err="1">
                <a:latin typeface="Times New Roman"/>
              </a:rPr>
              <a:t>mô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khổng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lồ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Mạng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lưới</a:t>
            </a:r>
            <a:r>
              <a:rPr sz="1700" dirty="0">
                <a:latin typeface="Times New Roman"/>
              </a:rPr>
              <a:t> chia </a:t>
            </a:r>
            <a:r>
              <a:rPr sz="1700" dirty="0" err="1">
                <a:latin typeface="Times New Roman"/>
              </a:rPr>
              <a:t>sẻ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đạp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lớn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 Bắc </a:t>
            </a:r>
            <a:r>
              <a:rPr sz="1700" dirty="0" err="1">
                <a:latin typeface="Times New Roman"/>
              </a:rPr>
              <a:t>Mỹ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hơn</a:t>
            </a:r>
            <a:r>
              <a:rPr sz="1700" dirty="0">
                <a:latin typeface="Times New Roman"/>
              </a:rPr>
              <a:t> 2.200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trải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rộng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khắp</a:t>
            </a:r>
            <a:r>
              <a:rPr sz="1700" dirty="0">
                <a:latin typeface="Times New Roman"/>
              </a:rPr>
              <a:t> New York.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Lưu </a:t>
            </a:r>
            <a:r>
              <a:rPr sz="1700" dirty="0" err="1">
                <a:latin typeface="Times New Roman"/>
              </a:rPr>
              <a:t>lượng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vận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hành</a:t>
            </a:r>
            <a:r>
              <a:rPr sz="1700" dirty="0">
                <a:latin typeface="Times New Roman"/>
              </a:rPr>
              <a:t>: Phục </a:t>
            </a:r>
            <a:r>
              <a:rPr sz="1700" dirty="0" err="1">
                <a:latin typeface="Times New Roman"/>
              </a:rPr>
              <a:t>vụ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hơn</a:t>
            </a:r>
            <a:r>
              <a:rPr sz="1700" dirty="0">
                <a:latin typeface="Times New Roman"/>
              </a:rPr>
              <a:t> 5.6 </a:t>
            </a:r>
            <a:r>
              <a:rPr sz="1700" dirty="0" err="1">
                <a:latin typeface="Times New Roman"/>
              </a:rPr>
              <a:t>triệu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chuyến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</a:t>
            </a:r>
            <a:r>
              <a:rPr sz="1700" dirty="0">
                <a:latin typeface="Times New Roman"/>
              </a:rPr>
              <a:t> (</a:t>
            </a:r>
            <a:r>
              <a:rPr sz="1700" dirty="0" err="1">
                <a:latin typeface="Times New Roman"/>
              </a:rPr>
              <a:t>Tháng</a:t>
            </a:r>
            <a:r>
              <a:rPr sz="1700" dirty="0">
                <a:latin typeface="Times New Roman"/>
              </a:rPr>
              <a:t> 4: 3.86M </a:t>
            </a:r>
            <a:r>
              <a:rPr sz="1700" dirty="0" err="1">
                <a:latin typeface="Times New Roman"/>
              </a:rPr>
              <a:t>chuyến</a:t>
            </a:r>
            <a:r>
              <a:rPr sz="1700" dirty="0">
                <a:latin typeface="Times New Roman"/>
              </a:rPr>
              <a:t>; </a:t>
            </a:r>
            <a:r>
              <a:rPr sz="1700" dirty="0" err="1">
                <a:latin typeface="Times New Roman"/>
              </a:rPr>
              <a:t>Tháng</a:t>
            </a:r>
            <a:r>
              <a:rPr sz="1700" dirty="0">
                <a:latin typeface="Times New Roman"/>
              </a:rPr>
              <a:t> 1: 1.81M </a:t>
            </a:r>
            <a:r>
              <a:rPr sz="1700" dirty="0" err="1">
                <a:latin typeface="Times New Roman"/>
              </a:rPr>
              <a:t>chuyến</a:t>
            </a:r>
            <a:r>
              <a:rPr sz="1700" dirty="0">
                <a:latin typeface="Times New Roman"/>
              </a:rPr>
              <a:t>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Mâu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thuẫn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cung</a:t>
            </a:r>
            <a:r>
              <a:rPr sz="1700" dirty="0">
                <a:latin typeface="Times New Roman"/>
              </a:rPr>
              <a:t> - </a:t>
            </a:r>
            <a:r>
              <a:rPr sz="1700" dirty="0" err="1">
                <a:latin typeface="Times New Roman"/>
              </a:rPr>
              <a:t>cầu</a:t>
            </a:r>
            <a:r>
              <a:rPr sz="1700" dirty="0">
                <a:latin typeface="Times New Roman"/>
              </a:rPr>
              <a:t>: Nhu </a:t>
            </a:r>
            <a:r>
              <a:rPr sz="1700" dirty="0" err="1">
                <a:latin typeface="Times New Roman"/>
              </a:rPr>
              <a:t>cầu</a:t>
            </a:r>
            <a:r>
              <a:rPr sz="1700" dirty="0">
                <a:latin typeface="Times New Roman"/>
              </a:rPr>
              <a:t> di </a:t>
            </a:r>
            <a:r>
              <a:rPr sz="1700" dirty="0" err="1">
                <a:latin typeface="Times New Roman"/>
              </a:rPr>
              <a:t>chuyển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thay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đổi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biến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theo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giờ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cao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điểm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theo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mùa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tạo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ra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nút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thắt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cổ</a:t>
            </a:r>
            <a:r>
              <a:rPr sz="1700" dirty="0">
                <a:latin typeface="Times New Roman"/>
              </a:rPr>
              <a:t> chai </a:t>
            </a:r>
            <a:r>
              <a:rPr sz="1700" dirty="0" err="1">
                <a:latin typeface="Times New Roman"/>
              </a:rPr>
              <a:t>điều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phối</a:t>
            </a:r>
            <a:r>
              <a:rPr sz="1700" dirty="0"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466344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THÁCH THỨC &amp; MỤC TIÊU HỌC MÁY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Hiện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tượng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Cháy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(Sáng): Khu </a:t>
            </a:r>
            <a:r>
              <a:rPr sz="1700" dirty="0" err="1">
                <a:latin typeface="Times New Roman"/>
              </a:rPr>
              <a:t>dân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cư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bị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rút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sạch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lúc</a:t>
            </a:r>
            <a:r>
              <a:rPr sz="1700" dirty="0">
                <a:latin typeface="Times New Roman"/>
              </a:rPr>
              <a:t> 7h-8h </a:t>
            </a:r>
            <a:r>
              <a:rPr sz="1700" dirty="0" err="1">
                <a:latin typeface="Times New Roman"/>
              </a:rPr>
              <a:t>sáng</a:t>
            </a:r>
            <a:r>
              <a:rPr sz="1700" dirty="0">
                <a:latin typeface="Times New Roman"/>
              </a:rPr>
              <a:t> do </a:t>
            </a:r>
            <a:r>
              <a:rPr sz="1700" dirty="0" err="1">
                <a:latin typeface="Times New Roman"/>
              </a:rPr>
              <a:t>người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dân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làm</a:t>
            </a:r>
            <a:r>
              <a:rPr sz="1700" dirty="0">
                <a:latin typeface="Times New Roman"/>
              </a:rPr>
              <a:t>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Hiện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tượng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Cháy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bãi</a:t>
            </a:r>
            <a:r>
              <a:rPr sz="1700" dirty="0">
                <a:latin typeface="Times New Roman"/>
              </a:rPr>
              <a:t> (Sáng): Khu </a:t>
            </a:r>
            <a:r>
              <a:rPr sz="1700" dirty="0" err="1">
                <a:latin typeface="Times New Roman"/>
              </a:rPr>
              <a:t>văn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phòng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trung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còn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chỗ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trống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để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người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dùng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trả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lúc</a:t>
            </a:r>
            <a:r>
              <a:rPr sz="1700" dirty="0">
                <a:latin typeface="Times New Roman"/>
              </a:rPr>
              <a:t> 8h-9h.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Hạn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chế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của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làm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cũ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Phân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cụm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theo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quy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số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chuyến</a:t>
            </a:r>
            <a:r>
              <a:rPr sz="1700" dirty="0">
                <a:latin typeface="Times New Roman"/>
              </a:rPr>
              <a:t> (Volume) </a:t>
            </a:r>
            <a:r>
              <a:rPr sz="1700" dirty="0" err="1">
                <a:latin typeface="Times New Roman"/>
              </a:rPr>
              <a:t>chỉ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biết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to hay </a:t>
            </a:r>
            <a:r>
              <a:rPr sz="1700" dirty="0" err="1">
                <a:latin typeface="Times New Roman"/>
              </a:rPr>
              <a:t>nhỏ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hiểu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bản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chức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năng</a:t>
            </a:r>
            <a:r>
              <a:rPr sz="1700" dirty="0">
                <a:latin typeface="Times New Roman"/>
              </a:rPr>
              <a:t>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Giải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pháp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đề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xuất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Phân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cụm</a:t>
            </a:r>
            <a:r>
              <a:rPr sz="1700" dirty="0">
                <a:latin typeface="Times New Roman"/>
              </a:rPr>
              <a:t> K-Means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sát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theo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Hồ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sơ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Tỷ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lệ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giờ</a:t>
            </a:r>
            <a:r>
              <a:rPr sz="1700" dirty="0">
                <a:latin typeface="Times New Roman"/>
              </a:rPr>
              <a:t> (Profile) </a:t>
            </a:r>
            <a:r>
              <a:rPr sz="1700" dirty="0" err="1">
                <a:latin typeface="Times New Roman"/>
              </a:rPr>
              <a:t>để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nhóm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chức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năng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phục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vụ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tải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điều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phối</a:t>
            </a:r>
            <a:r>
              <a:rPr sz="17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Trích Xuất 8 Đặc Trưng Tỷ Lệ (Feature Engineering)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4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6858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649224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KHÔNG GIAN ĐẶC TRƯNG HỒ SƠ TRẠM (8 CHIỀU LIÊN TỤC)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morning_ratio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sáng</a:t>
            </a:r>
            <a:r>
              <a:rPr sz="1600" dirty="0">
                <a:latin typeface="Times New Roman"/>
              </a:rPr>
              <a:t> (06:00 - 10:00) — </a:t>
            </a:r>
            <a:r>
              <a:rPr sz="1600" dirty="0" err="1">
                <a:latin typeface="Times New Roman"/>
              </a:rPr>
              <a:t>Đặc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trưng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cư</a:t>
            </a:r>
            <a:endParaRPr sz="1600" dirty="0">
              <a:latin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midday_ratio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trưa</a:t>
            </a:r>
            <a:r>
              <a:rPr sz="1600" dirty="0">
                <a:latin typeface="Times New Roman"/>
              </a:rPr>
              <a:t> (10:00 - 16:00)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evening_ratio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chiều</a:t>
            </a:r>
            <a:r>
              <a:rPr sz="1600" dirty="0">
                <a:latin typeface="Times New Roman"/>
              </a:rPr>
              <a:t> tan </a:t>
            </a:r>
            <a:r>
              <a:rPr sz="1600" dirty="0" err="1">
                <a:latin typeface="Times New Roman"/>
              </a:rPr>
              <a:t>sở</a:t>
            </a:r>
            <a:r>
              <a:rPr sz="1600" dirty="0">
                <a:latin typeface="Times New Roman"/>
              </a:rPr>
              <a:t> (16:00 - 20:00) — </a:t>
            </a:r>
            <a:r>
              <a:rPr sz="1600" dirty="0" err="1">
                <a:latin typeface="Times New Roman"/>
              </a:rPr>
              <a:t>Đặc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trưng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văn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phòng</a:t>
            </a:r>
            <a:endParaRPr sz="1600" dirty="0">
              <a:latin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night_ratio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đêm</a:t>
            </a:r>
            <a:r>
              <a:rPr sz="1600" dirty="0">
                <a:latin typeface="Times New Roman"/>
              </a:rPr>
              <a:t> (20:00 - 06:00) — </a:t>
            </a:r>
            <a:r>
              <a:rPr sz="1600" dirty="0" err="1">
                <a:latin typeface="Times New Roman"/>
              </a:rPr>
              <a:t>Đặc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trưng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giải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trí</a:t>
            </a:r>
            <a:endParaRPr sz="1600" dirty="0">
              <a:latin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weekend_ratio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Thứ</a:t>
            </a:r>
            <a:r>
              <a:rPr sz="1600" dirty="0">
                <a:latin typeface="Times New Roman"/>
              </a:rPr>
              <a:t> 7 &amp; </a:t>
            </a:r>
            <a:r>
              <a:rPr sz="1600" dirty="0" err="1">
                <a:latin typeface="Times New Roman"/>
              </a:rPr>
              <a:t>Chủ</a:t>
            </a:r>
            <a:r>
              <a:rPr sz="1600" dirty="0">
                <a:latin typeface="Times New Roman"/>
              </a:rPr>
              <a:t> Nhật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member_share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</a:t>
            </a:r>
            <a:r>
              <a:rPr sz="1600" dirty="0">
                <a:latin typeface="Times New Roman"/>
              </a:rPr>
              <a:t> do </a:t>
            </a:r>
            <a:r>
              <a:rPr sz="1600" dirty="0" err="1">
                <a:latin typeface="Times New Roman"/>
              </a:rPr>
              <a:t>Hội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viên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năm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dụng</a:t>
            </a:r>
            <a:r>
              <a:rPr sz="1600" dirty="0">
                <a:latin typeface="Times New Roman"/>
              </a:rPr>
              <a:t> (Annual Member)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median_duration_min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Thời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lượng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trung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vị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</a:t>
            </a:r>
            <a:r>
              <a:rPr sz="1600" dirty="0">
                <a:latin typeface="Times New Roman"/>
              </a:rPr>
              <a:t> (</a:t>
            </a:r>
            <a:r>
              <a:rPr sz="1600" dirty="0" err="1">
                <a:latin typeface="Times New Roman"/>
              </a:rPr>
              <a:t>phút</a:t>
            </a:r>
            <a:r>
              <a:rPr sz="1600" dirty="0">
                <a:latin typeface="Times New Roman"/>
              </a:rPr>
              <a:t>) — </a:t>
            </a:r>
            <a:r>
              <a:rPr sz="1600" dirty="0" err="1">
                <a:latin typeface="Times New Roman"/>
              </a:rPr>
              <a:t>Khử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ngoại</a:t>
            </a:r>
            <a:r>
              <a:rPr sz="1600" dirty="0">
                <a:latin typeface="Times New Roman"/>
              </a:rPr>
              <a:t> lai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morning_net_flow_ratio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Chênh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dòng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xe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sáng</a:t>
            </a:r>
            <a:r>
              <a:rPr sz="1600" dirty="0">
                <a:latin typeface="Times New Roman"/>
              </a:rPr>
              <a:t>: (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- Ra) / (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+ 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25880"/>
            <a:ext cx="3566160" cy="48463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200400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2 NGUYÊN TẮC VÀNG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1.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dùng</a:t>
            </a:r>
            <a:r>
              <a:rPr sz="1600" dirty="0">
                <a:latin typeface="Times New Roman"/>
              </a:rPr>
              <a:t> Lat/</a:t>
            </a:r>
            <a:r>
              <a:rPr sz="1600" dirty="0" err="1">
                <a:latin typeface="Times New Roman"/>
              </a:rPr>
              <a:t>Lng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 err="1">
                <a:latin typeface="Times New Roman"/>
              </a:rPr>
              <a:t>Tọa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địa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lý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chỉ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dùng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vẽ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đồ</a:t>
            </a:r>
            <a:r>
              <a:rPr sz="1600" dirty="0">
                <a:latin typeface="Times New Roman"/>
              </a:rPr>
              <a:t>. </a:t>
            </a:r>
            <a:r>
              <a:rPr sz="1600" dirty="0" err="1">
                <a:latin typeface="Times New Roman"/>
              </a:rPr>
              <a:t>Tuyệt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nạp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K-Means </a:t>
            </a:r>
            <a:r>
              <a:rPr sz="1600" dirty="0" err="1">
                <a:latin typeface="Times New Roman"/>
              </a:rPr>
              <a:t>để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gom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theo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khoảng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cách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địa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lý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thay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vì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hành</a:t>
            </a:r>
            <a:r>
              <a:rPr sz="1600" dirty="0">
                <a:latin typeface="Times New Roman"/>
              </a:rPr>
              <a:t> vi.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2. </a:t>
            </a:r>
            <a:r>
              <a:rPr sz="1600" dirty="0" err="1">
                <a:latin typeface="Times New Roman"/>
              </a:rPr>
              <a:t>Loại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bỏ</a:t>
            </a:r>
            <a:r>
              <a:rPr sz="1600" dirty="0">
                <a:latin typeface="Times New Roman"/>
              </a:rPr>
              <a:t> Quy </a:t>
            </a:r>
            <a:r>
              <a:rPr sz="1600" dirty="0" err="1">
                <a:latin typeface="Times New Roman"/>
              </a:rPr>
              <a:t>mô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 err="1">
                <a:latin typeface="Times New Roman"/>
              </a:rPr>
              <a:t>Chỉ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dùng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% (Rate/Share) </a:t>
            </a:r>
            <a:r>
              <a:rPr sz="1600" dirty="0" err="1">
                <a:latin typeface="Times New Roman"/>
              </a:rPr>
              <a:t>để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500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5.000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có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cùng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nhịp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sinh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thì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vẫn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chung</a:t>
            </a:r>
            <a:r>
              <a:rPr sz="1600" dirty="0">
                <a:latin typeface="Times New Roman"/>
              </a:rPr>
              <a:t> 1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r>
              <a:rPr lang="en-US" dirty="0" err="1"/>
              <a:t>âssadasdad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Chiến Lược Phân Chia Chống Rò Rỉ Dữ Liệu (Anti-Leakage)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3873176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5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463040"/>
            <a:ext cx="30175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TẬP HUẤN LUYỆN (TRAIN)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1.559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(70%)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Dùng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để</a:t>
            </a:r>
            <a:r>
              <a:rPr sz="1700" dirty="0">
                <a:latin typeface="Times New Roman"/>
              </a:rPr>
              <a:t> fit </a:t>
            </a:r>
            <a:r>
              <a:rPr sz="1700" dirty="0" err="1">
                <a:latin typeface="Times New Roman"/>
              </a:rPr>
              <a:t>StandardScaler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huấn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luyện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hình</a:t>
            </a:r>
            <a:r>
              <a:rPr sz="1700" dirty="0">
                <a:latin typeface="Times New Roman"/>
              </a:rPr>
              <a:t> K-Means.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30175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TẬP KIỂM ĐỊNH (VALIDATION)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335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(15%)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Dùng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để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tìm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kiếm</a:t>
            </a:r>
            <a:r>
              <a:rPr sz="1700" dirty="0">
                <a:latin typeface="Times New Roman"/>
              </a:rPr>
              <a:t> K </a:t>
            </a:r>
            <a:r>
              <a:rPr sz="1700" dirty="0" err="1">
                <a:latin typeface="Times New Roman"/>
              </a:rPr>
              <a:t>tối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ưu</a:t>
            </a:r>
            <a:r>
              <a:rPr sz="1700" dirty="0">
                <a:latin typeface="Times New Roman"/>
              </a:rPr>
              <a:t> (K=2..8)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đánh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giá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ổn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định</a:t>
            </a:r>
            <a:r>
              <a:rPr sz="1700" dirty="0">
                <a:latin typeface="Times New Roman"/>
              </a:rPr>
              <a:t> qua Seed.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0175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TẬP KIỂM THỬ (TEST)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335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(15%)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Niêm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phong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hoàn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toàn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chỉ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mở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ra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đánh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giá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nghiệm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thu</a:t>
            </a:r>
            <a:r>
              <a:rPr sz="1700" dirty="0">
                <a:latin typeface="Times New Roman"/>
              </a:rPr>
              <a:t> ở </a:t>
            </a:r>
            <a:r>
              <a:rPr sz="1700" dirty="0" err="1">
                <a:latin typeface="Times New Roman"/>
              </a:rPr>
              <a:t>bước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cuối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cùng</a:t>
            </a:r>
            <a:r>
              <a:rPr sz="1700" dirty="0">
                <a:latin typeface="Times New Roman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6984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80"/>
            <a:ext cx="1024128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CƠ CHẾ CHỐNG RÒ RỈ TOÀN DIỆN TRONG CODE: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1. </a:t>
            </a:r>
            <a:r>
              <a:rPr sz="1700" dirty="0" err="1">
                <a:latin typeface="Times New Roman"/>
              </a:rPr>
              <a:t>Phân</a:t>
            </a:r>
            <a:r>
              <a:rPr sz="1700" dirty="0">
                <a:latin typeface="Times New Roman"/>
              </a:rPr>
              <a:t> chia ở </a:t>
            </a:r>
            <a:r>
              <a:rPr sz="1700" dirty="0" err="1">
                <a:latin typeface="Times New Roman"/>
              </a:rPr>
              <a:t>cấp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Toàn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lịch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sử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hành</a:t>
            </a:r>
            <a:r>
              <a:rPr sz="1700" dirty="0">
                <a:latin typeface="Times New Roman"/>
              </a:rPr>
              <a:t> vi </a:t>
            </a:r>
            <a:r>
              <a:rPr sz="1700" dirty="0" err="1">
                <a:latin typeface="Times New Roman"/>
              </a:rPr>
              <a:t>của</a:t>
            </a:r>
            <a:r>
              <a:rPr sz="1700" dirty="0">
                <a:latin typeface="Times New Roman"/>
              </a:rPr>
              <a:t> 1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nằm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trọn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vẹn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trong</a:t>
            </a:r>
            <a:r>
              <a:rPr sz="1700" dirty="0">
                <a:latin typeface="Times New Roman"/>
              </a:rPr>
              <a:t> 1 </a:t>
            </a:r>
            <a:r>
              <a:rPr sz="1700" dirty="0" err="1">
                <a:latin typeface="Times New Roman"/>
              </a:rPr>
              <a:t>phân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vùng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duy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2. </a:t>
            </a:r>
            <a:r>
              <a:rPr sz="1700" dirty="0" err="1">
                <a:latin typeface="Times New Roman"/>
              </a:rPr>
              <a:t>Cách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StandardScaler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scaler.fit</a:t>
            </a:r>
            <a:r>
              <a:rPr sz="1700" dirty="0">
                <a:latin typeface="Times New Roman"/>
              </a:rPr>
              <a:t>(</a:t>
            </a:r>
            <a:r>
              <a:rPr sz="1700" dirty="0" err="1">
                <a:latin typeface="Times New Roman"/>
              </a:rPr>
              <a:t>X_train</a:t>
            </a:r>
            <a:r>
              <a:rPr sz="1700" dirty="0">
                <a:latin typeface="Times New Roman"/>
              </a:rPr>
              <a:t>) </a:t>
            </a:r>
            <a:r>
              <a:rPr sz="1700" dirty="0" err="1">
                <a:latin typeface="Times New Roman"/>
              </a:rPr>
              <a:t>duy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trên</a:t>
            </a:r>
            <a:r>
              <a:rPr sz="1700" dirty="0">
                <a:latin typeface="Times New Roman"/>
              </a:rPr>
              <a:t> Train. </a:t>
            </a:r>
            <a:r>
              <a:rPr sz="1700" dirty="0" err="1">
                <a:latin typeface="Times New Roman"/>
              </a:rPr>
              <a:t>Tập</a:t>
            </a:r>
            <a:r>
              <a:rPr sz="1700" dirty="0">
                <a:latin typeface="Times New Roman"/>
              </a:rPr>
              <a:t> Val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Test </a:t>
            </a:r>
            <a:r>
              <a:rPr sz="1700" dirty="0" err="1">
                <a:latin typeface="Times New Roman"/>
              </a:rPr>
              <a:t>chỉ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áp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dụng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scaler.transform</a:t>
            </a:r>
            <a:r>
              <a:rPr sz="1700" dirty="0">
                <a:latin typeface="Times New Roman"/>
              </a:rPr>
              <a:t>().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3. Tái </a:t>
            </a:r>
            <a:r>
              <a:rPr sz="1700" dirty="0" err="1">
                <a:latin typeface="Times New Roman"/>
              </a:rPr>
              <a:t>lập</a:t>
            </a:r>
            <a:r>
              <a:rPr sz="1700" dirty="0">
                <a:latin typeface="Times New Roman"/>
              </a:rPr>
              <a:t> 100%: </a:t>
            </a:r>
            <a:r>
              <a:rPr sz="1700" dirty="0" err="1">
                <a:latin typeface="Times New Roman"/>
              </a:rPr>
              <a:t>Cố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định</a:t>
            </a:r>
            <a:r>
              <a:rPr sz="1700" dirty="0">
                <a:latin typeface="Times New Roman"/>
              </a:rPr>
              <a:t> RANDOM_STATE = 42 </a:t>
            </a:r>
            <a:r>
              <a:rPr sz="1700" dirty="0" err="1">
                <a:latin typeface="Times New Roman"/>
              </a:rPr>
              <a:t>xuyên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suốt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toàn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bộ</a:t>
            </a:r>
            <a:r>
              <a:rPr sz="1700" dirty="0">
                <a:latin typeface="Times New Roman"/>
              </a:rPr>
              <a:t> pipeline </a:t>
            </a:r>
            <a:r>
              <a:rPr sz="1700" dirty="0" err="1">
                <a:latin typeface="Times New Roman"/>
              </a:rPr>
              <a:t>tiền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xử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lý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hình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hóa</a:t>
            </a:r>
            <a:r>
              <a:rPr sz="17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Cơ Sở Lý Thuyết: Thuật Toán Phân Cụm K-Means &amp; K-Means++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6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4754880" cy="4529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HÀM MỤC TIÊU TOÁN HỌC (WCSS / INERTIA)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Hàm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mục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tiêu</a:t>
            </a:r>
            <a:r>
              <a:rPr sz="1700" dirty="0">
                <a:latin typeface="Times New Roman"/>
              </a:rPr>
              <a:t>:</a:t>
            </a:r>
            <a:br>
              <a:rPr sz="1700" dirty="0"/>
            </a:br>
            <a:r>
              <a:rPr sz="1700" dirty="0">
                <a:latin typeface="Times New Roman"/>
              </a:rPr>
              <a:t>  J(C, μ) = Σ </a:t>
            </a:r>
            <a:r>
              <a:rPr sz="1700" dirty="0" err="1">
                <a:latin typeface="Times New Roman"/>
              </a:rPr>
              <a:t>Σ</a:t>
            </a:r>
            <a:r>
              <a:rPr sz="1700" dirty="0">
                <a:latin typeface="Times New Roman"/>
              </a:rPr>
              <a:t> ||</a:t>
            </a:r>
            <a:r>
              <a:rPr sz="1700" dirty="0" err="1">
                <a:latin typeface="Times New Roman"/>
              </a:rPr>
              <a:t>x_i</a:t>
            </a:r>
            <a:r>
              <a:rPr sz="1700" dirty="0">
                <a:latin typeface="Times New Roman"/>
              </a:rPr>
              <a:t> - </a:t>
            </a:r>
            <a:r>
              <a:rPr sz="1700" dirty="0" err="1">
                <a:latin typeface="Times New Roman"/>
              </a:rPr>
              <a:t>μ_k</a:t>
            </a:r>
            <a:r>
              <a:rPr sz="1700" dirty="0">
                <a:latin typeface="Times New Roman"/>
              </a:rPr>
              <a:t>||²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Mục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đích</a:t>
            </a:r>
            <a:r>
              <a:rPr sz="1700" dirty="0">
                <a:latin typeface="Times New Roman"/>
              </a:rPr>
              <a:t>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Tìm</a:t>
            </a:r>
            <a:r>
              <a:rPr sz="1700" dirty="0">
                <a:latin typeface="Times New Roman"/>
              </a:rPr>
              <a:t> K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cụm</a:t>
            </a:r>
            <a:r>
              <a:rPr sz="1700" dirty="0">
                <a:latin typeface="Times New Roman"/>
              </a:rPr>
              <a:t> μ </a:t>
            </a:r>
            <a:r>
              <a:rPr sz="1700" dirty="0" err="1">
                <a:latin typeface="Times New Roman"/>
              </a:rPr>
              <a:t>sao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tổng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bình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phương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khoảng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từ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gần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nhỏ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Khoảng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cách</a:t>
            </a:r>
            <a:r>
              <a:rPr sz="1700" dirty="0">
                <a:latin typeface="Times New Roman"/>
              </a:rPr>
              <a:t> Euclid:</a:t>
            </a:r>
            <a:br>
              <a:rPr sz="1700" dirty="0"/>
            </a:br>
            <a:r>
              <a:rPr sz="1700" dirty="0">
                <a:latin typeface="Times New Roman"/>
              </a:rPr>
              <a:t>  d(x, μ) = √[Σ (</a:t>
            </a:r>
            <a:r>
              <a:rPr sz="1700" dirty="0" err="1">
                <a:latin typeface="Times New Roman"/>
              </a:rPr>
              <a:t>x_j</a:t>
            </a:r>
            <a:r>
              <a:rPr sz="1700" dirty="0">
                <a:latin typeface="Times New Roman"/>
              </a:rPr>
              <a:t> - </a:t>
            </a:r>
            <a:r>
              <a:rPr sz="1700" dirty="0" err="1">
                <a:latin typeface="Times New Roman"/>
              </a:rPr>
              <a:t>μ_j</a:t>
            </a:r>
            <a:r>
              <a:rPr sz="1700" dirty="0">
                <a:latin typeface="Times New Roman"/>
              </a:rPr>
              <a:t>)²] </a:t>
            </a:r>
            <a:r>
              <a:rPr sz="1700" dirty="0" err="1">
                <a:latin typeface="Times New Roman"/>
              </a:rPr>
              <a:t>trong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gian</a:t>
            </a:r>
            <a:r>
              <a:rPr sz="1700" dirty="0">
                <a:latin typeface="Times New Roman"/>
              </a:rPr>
              <a:t> 8 </a:t>
            </a:r>
            <a:r>
              <a:rPr sz="1700" dirty="0" err="1">
                <a:latin typeface="Times New Roman"/>
              </a:rPr>
              <a:t>chiều</a:t>
            </a:r>
            <a:r>
              <a:rPr sz="17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Bước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gán</a:t>
            </a:r>
            <a:r>
              <a:rPr sz="1700" dirty="0">
                <a:latin typeface="Times New Roman"/>
              </a:rPr>
              <a:t> (Assignment):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c_i</a:t>
            </a:r>
            <a:r>
              <a:rPr sz="1700" dirty="0">
                <a:latin typeface="Times New Roman"/>
              </a:rPr>
              <a:t> = </a:t>
            </a:r>
            <a:r>
              <a:rPr sz="1700" dirty="0" err="1">
                <a:latin typeface="Times New Roman"/>
              </a:rPr>
              <a:t>argmin</a:t>
            </a:r>
            <a:r>
              <a:rPr sz="1700" dirty="0">
                <a:latin typeface="Times New Roman"/>
              </a:rPr>
              <a:t> ||</a:t>
            </a:r>
            <a:r>
              <a:rPr sz="1700" dirty="0" err="1">
                <a:latin typeface="Times New Roman"/>
              </a:rPr>
              <a:t>x_i</a:t>
            </a:r>
            <a:r>
              <a:rPr sz="1700" dirty="0">
                <a:latin typeface="Times New Roman"/>
              </a:rPr>
              <a:t> - </a:t>
            </a:r>
            <a:r>
              <a:rPr sz="1700" dirty="0" err="1">
                <a:latin typeface="Times New Roman"/>
              </a:rPr>
              <a:t>μ_k</a:t>
            </a:r>
            <a:r>
              <a:rPr sz="1700" dirty="0">
                <a:latin typeface="Times New Roman"/>
              </a:rPr>
              <a:t>||²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• </a:t>
            </a:r>
            <a:r>
              <a:rPr sz="1700" dirty="0" err="1">
                <a:latin typeface="Times New Roman"/>
              </a:rPr>
              <a:t>Bước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cập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nhật</a:t>
            </a:r>
            <a:r>
              <a:rPr sz="1700" dirty="0">
                <a:latin typeface="Times New Roman"/>
              </a:rPr>
              <a:t> (Update):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μ_k</a:t>
            </a:r>
            <a:r>
              <a:rPr sz="1700" dirty="0">
                <a:latin typeface="Times New Roman"/>
              </a:rPr>
              <a:t> = (1 / |C_k|) Σ </a:t>
            </a:r>
            <a:r>
              <a:rPr sz="1700" dirty="0" err="1">
                <a:latin typeface="Times New Roman"/>
              </a:rPr>
              <a:t>x_i</a:t>
            </a:r>
            <a:r>
              <a:rPr sz="1700" dirty="0">
                <a:latin typeface="Times New Roman"/>
              </a:rPr>
              <a:t> (Trung </a:t>
            </a:r>
            <a:r>
              <a:rPr sz="1700" dirty="0" err="1">
                <a:latin typeface="Times New Roman"/>
              </a:rPr>
              <a:t>bình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cộng</a:t>
            </a:r>
            <a:r>
              <a:rPr sz="1700" dirty="0">
                <a:latin typeface="Times New Roman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846320" cy="468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VÌ SAO DÙNG K-MEANS++ THAY VÌ RANDOM?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✔ </a:t>
            </a:r>
            <a:r>
              <a:rPr sz="1700" dirty="0" err="1">
                <a:latin typeface="Times New Roman"/>
              </a:rPr>
              <a:t>Hạn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chế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khởi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tạo</a:t>
            </a:r>
            <a:r>
              <a:rPr sz="1700" dirty="0">
                <a:latin typeface="Times New Roman"/>
              </a:rPr>
              <a:t> Random: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Rất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dễ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chọn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ban </a:t>
            </a:r>
            <a:r>
              <a:rPr sz="1700" dirty="0" err="1">
                <a:latin typeface="Times New Roman"/>
              </a:rPr>
              <a:t>đầu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nằm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sát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nhau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khiến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thuật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toán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hội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tụ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cực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tiểu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cục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xấu</a:t>
            </a:r>
            <a:r>
              <a:rPr sz="1700" dirty="0">
                <a:latin typeface="Times New Roman"/>
              </a:rPr>
              <a:t> (Suboptimal local minima).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✔ </a:t>
            </a:r>
            <a:r>
              <a:rPr sz="1700" dirty="0" err="1">
                <a:latin typeface="Times New Roman"/>
              </a:rPr>
              <a:t>Cơ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chế</a:t>
            </a:r>
            <a:r>
              <a:rPr sz="1700" dirty="0">
                <a:latin typeface="Times New Roman"/>
              </a:rPr>
              <a:t> K-Means++: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Chọn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đầu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ngẫu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nhiên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các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tiếp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theo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được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chọn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suất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tỷ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lệ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với</a:t>
            </a:r>
            <a:r>
              <a:rPr sz="1700" dirty="0">
                <a:latin typeface="Times New Roman"/>
              </a:rPr>
              <a:t> D(x)² (</a:t>
            </a:r>
            <a:r>
              <a:rPr sz="1700" dirty="0" err="1">
                <a:latin typeface="Times New Roman"/>
              </a:rPr>
              <a:t>khoảng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gần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nhất</a:t>
            </a:r>
            <a:r>
              <a:rPr sz="1700" dirty="0">
                <a:latin typeface="Times New Roman"/>
              </a:rPr>
              <a:t>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✔ Lợi </a:t>
            </a:r>
            <a:r>
              <a:rPr sz="1700" dirty="0" err="1">
                <a:latin typeface="Times New Roman"/>
              </a:rPr>
              <a:t>ích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thực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nghiệm</a:t>
            </a:r>
            <a:r>
              <a:rPr sz="1700" dirty="0">
                <a:latin typeface="Times New Roman"/>
              </a:rPr>
              <a:t>:</a:t>
            </a:r>
            <a:br>
              <a:rPr sz="1700" dirty="0"/>
            </a:br>
            <a:r>
              <a:rPr sz="1700" dirty="0">
                <a:latin typeface="Times New Roman"/>
              </a:rPr>
              <a:t>  Các </a:t>
            </a:r>
            <a:r>
              <a:rPr sz="1700" dirty="0" err="1">
                <a:latin typeface="Times New Roman"/>
              </a:rPr>
              <a:t>tâm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trải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đều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gian</a:t>
            </a:r>
            <a:r>
              <a:rPr sz="1700" dirty="0">
                <a:latin typeface="Times New Roman"/>
              </a:rPr>
              <a:t>, </a:t>
            </a:r>
            <a:r>
              <a:rPr sz="1700" dirty="0" err="1">
                <a:latin typeface="Times New Roman"/>
              </a:rPr>
              <a:t>tăng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tốc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hội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tụ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đem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lại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ổn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định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tuyệt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đối</a:t>
            </a:r>
            <a:r>
              <a:rPr sz="1700" dirty="0">
                <a:latin typeface="Times New Roman"/>
              </a:rPr>
              <a:t> (ARI = 0.9984).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✔ </a:t>
            </a:r>
            <a:r>
              <a:rPr sz="1700" dirty="0" err="1">
                <a:latin typeface="Times New Roman"/>
              </a:rPr>
              <a:t>Tốc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suy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luận</a:t>
            </a:r>
            <a:r>
              <a:rPr sz="1700" dirty="0">
                <a:latin typeface="Times New Roman"/>
              </a:rPr>
              <a:t> Online:</a:t>
            </a:r>
            <a:br>
              <a:rPr sz="1700" dirty="0"/>
            </a:br>
            <a:r>
              <a:rPr sz="1700" dirty="0">
                <a:latin typeface="Times New Roman"/>
              </a:rPr>
              <a:t>  </a:t>
            </a:r>
            <a:r>
              <a:rPr sz="1700" dirty="0" err="1">
                <a:latin typeface="Times New Roman"/>
              </a:rPr>
              <a:t>Chỉ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mất</a:t>
            </a:r>
            <a:r>
              <a:rPr sz="1700" dirty="0">
                <a:latin typeface="Times New Roman"/>
              </a:rPr>
              <a:t> &lt; 1ms </a:t>
            </a:r>
            <a:r>
              <a:rPr sz="1700" dirty="0" err="1">
                <a:latin typeface="Times New Roman"/>
              </a:rPr>
              <a:t>để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gán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cụm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cho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một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trạm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mới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đưa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lên</a:t>
            </a:r>
            <a:r>
              <a:rPr sz="1700" dirty="0">
                <a:latin typeface="Times New Roman"/>
              </a:rPr>
              <a:t> web serving.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Thí Nghiệm 1: Đối Chuẩn Volume Baseline vs Profile K-Means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7 / 15</a:t>
            </a:r>
          </a:p>
        </p:txBody>
      </p:sp>
      <p:pic>
        <p:nvPicPr>
          <p:cNvPr id="12" name="Picture 11" descr="fig1_baseline_vs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23915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23760" y="1325880"/>
            <a:ext cx="4206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508760"/>
            <a:ext cx="3840480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KẾT QUẢ ĐỐI CHUẨN KHOA HỌC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Volume Baseline (1D):</a:t>
            </a:r>
            <a:br>
              <a:rPr sz="1600" dirty="0"/>
            </a:br>
            <a:r>
              <a:rPr sz="1600" dirty="0">
                <a:latin typeface="Times New Roman"/>
              </a:rPr>
              <a:t>  Silhouette = 0.5774</a:t>
            </a:r>
            <a:br>
              <a:rPr sz="1600" dirty="0"/>
            </a:br>
            <a:r>
              <a:rPr sz="1600" dirty="0">
                <a:latin typeface="Times New Roman"/>
              </a:rPr>
              <a:t>(</a:t>
            </a:r>
            <a:r>
              <a:rPr sz="1600" dirty="0" err="1">
                <a:latin typeface="Times New Roman"/>
              </a:rPr>
              <a:t>Chỉ</a:t>
            </a:r>
            <a:r>
              <a:rPr sz="1600" dirty="0">
                <a:latin typeface="Times New Roman"/>
              </a:rPr>
              <a:t> chia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theo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lưu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lượng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đông</a:t>
            </a:r>
            <a:r>
              <a:rPr sz="1600" dirty="0">
                <a:latin typeface="Times New Roman"/>
              </a:rPr>
              <a:t> / </a:t>
            </a:r>
            <a:r>
              <a:rPr sz="1600" dirty="0" err="1">
                <a:latin typeface="Times New Roman"/>
              </a:rPr>
              <a:t>vắng</a:t>
            </a:r>
            <a:r>
              <a:rPr sz="1600" dirty="0">
                <a:latin typeface="Times New Roman"/>
              </a:rPr>
              <a:t>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Profile K-Means (8D):</a:t>
            </a:r>
            <a:br>
              <a:rPr sz="1600" dirty="0"/>
            </a:br>
            <a:r>
              <a:rPr sz="1600" dirty="0">
                <a:latin typeface="Times New Roman"/>
              </a:rPr>
              <a:t>  Silhouette = 0.1690</a:t>
            </a:r>
            <a:br>
              <a:rPr sz="1600" dirty="0"/>
            </a:br>
            <a:r>
              <a:rPr sz="1600" dirty="0">
                <a:latin typeface="Times New Roman"/>
              </a:rPr>
              <a:t>(Chia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theo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nhịp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sinh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hoạt</a:t>
            </a:r>
            <a:r>
              <a:rPr sz="1600" dirty="0">
                <a:latin typeface="Times New Roman"/>
              </a:rPr>
              <a:t>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ARI </a:t>
            </a:r>
            <a:r>
              <a:rPr sz="1600" dirty="0" err="1">
                <a:latin typeface="Times New Roman"/>
              </a:rPr>
              <a:t>đối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chuẩn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chéo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ARI = 0.0115 (</a:t>
            </a:r>
            <a:r>
              <a:rPr sz="1600" dirty="0" err="1">
                <a:latin typeface="Times New Roman"/>
              </a:rPr>
              <a:t>Gần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sát</a:t>
            </a:r>
            <a:r>
              <a:rPr sz="1600" dirty="0">
                <a:latin typeface="Times New Roman"/>
              </a:rPr>
              <a:t> 0!)</a:t>
            </a:r>
            <a:br>
              <a:rPr sz="1600" dirty="0"/>
            </a:br>
            <a:r>
              <a:rPr sz="1600" dirty="0">
                <a:latin typeface="Times New Roman"/>
              </a:rPr>
              <a:t>Hai </a:t>
            </a:r>
            <a:r>
              <a:rPr sz="1600" dirty="0" err="1">
                <a:latin typeface="Times New Roman"/>
              </a:rPr>
              <a:t>phương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tương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đồng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Ý </a:t>
            </a:r>
            <a:r>
              <a:rPr sz="1600" dirty="0" err="1">
                <a:latin typeface="Times New Roman"/>
              </a:rPr>
              <a:t>nghĩa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thực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tiễn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Mặc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dù</a:t>
            </a:r>
            <a:r>
              <a:rPr sz="1600" dirty="0">
                <a:latin typeface="Times New Roman"/>
              </a:rPr>
              <a:t> Volume </a:t>
            </a:r>
            <a:r>
              <a:rPr sz="1600" dirty="0" err="1">
                <a:latin typeface="Times New Roman"/>
              </a:rPr>
              <a:t>có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điểm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số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giả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tạo</a:t>
            </a:r>
            <a:r>
              <a:rPr sz="1600" dirty="0">
                <a:latin typeface="Times New Roman"/>
              </a:rPr>
              <a:t> do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lớn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tách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biệt</a:t>
            </a:r>
            <a:r>
              <a:rPr sz="1600" dirty="0">
                <a:latin typeface="Times New Roman"/>
              </a:rPr>
              <a:t>, </a:t>
            </a:r>
            <a:r>
              <a:rPr sz="1600" dirty="0" err="1">
                <a:latin typeface="Times New Roman"/>
              </a:rPr>
              <a:t>nhưng</a:t>
            </a:r>
            <a:r>
              <a:rPr sz="1600" dirty="0">
                <a:latin typeface="Times New Roman"/>
              </a:rPr>
              <a:t> ARI ≈ 0 </a:t>
            </a:r>
            <a:r>
              <a:rPr sz="1600" dirty="0" err="1">
                <a:latin typeface="Times New Roman"/>
              </a:rPr>
              <a:t>chứng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minh</a:t>
            </a:r>
            <a:r>
              <a:rPr sz="1600" dirty="0">
                <a:latin typeface="Times New Roman"/>
              </a:rPr>
              <a:t> Profile </a:t>
            </a:r>
            <a:r>
              <a:rPr sz="1600" dirty="0" err="1">
                <a:latin typeface="Times New Roman"/>
              </a:rPr>
              <a:t>trích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dụng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lập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với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quy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mô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Thí Nghiệm 2: Đường Cong Elbow &amp; Luận Cứ Chọn K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8 / 15</a:t>
            </a:r>
          </a:p>
        </p:txBody>
      </p:sp>
      <p:pic>
        <p:nvPicPr>
          <p:cNvPr id="12" name="Picture 11" descr="fig2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302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25880"/>
            <a:ext cx="44805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508760"/>
            <a:ext cx="41148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LUẬN CỨ LỰA CHỌN K = 3 TỐI ƯU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Điểm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uốn</a:t>
            </a:r>
            <a:r>
              <a:rPr sz="1600" dirty="0">
                <a:latin typeface="Times New Roman"/>
              </a:rPr>
              <a:t> Elbow </a:t>
            </a:r>
            <a:r>
              <a:rPr sz="1600" dirty="0" err="1">
                <a:latin typeface="Times New Roman"/>
              </a:rPr>
              <a:t>rõ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nét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Đường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cong</a:t>
            </a:r>
            <a:r>
              <a:rPr sz="1600" dirty="0">
                <a:latin typeface="Times New Roman"/>
              </a:rPr>
              <a:t> Inertia </a:t>
            </a:r>
            <a:r>
              <a:rPr sz="1600" dirty="0" err="1">
                <a:latin typeface="Times New Roman"/>
              </a:rPr>
              <a:t>giảm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dốc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từ</a:t>
            </a:r>
            <a:r>
              <a:rPr sz="1600" dirty="0">
                <a:latin typeface="Times New Roman"/>
              </a:rPr>
              <a:t> K=2 (10.109) </a:t>
            </a:r>
            <a:r>
              <a:rPr sz="1600" dirty="0" err="1">
                <a:latin typeface="Times New Roman"/>
              </a:rPr>
              <a:t>xuống</a:t>
            </a:r>
            <a:r>
              <a:rPr sz="1600" dirty="0">
                <a:latin typeface="Times New Roman"/>
              </a:rPr>
              <a:t> K=3 (8.927) </a:t>
            </a:r>
            <a:r>
              <a:rPr sz="1600" dirty="0" err="1">
                <a:latin typeface="Times New Roman"/>
              </a:rPr>
              <a:t>rồi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thoai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thoải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dần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Chỉ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số</a:t>
            </a:r>
            <a:r>
              <a:rPr sz="1600" dirty="0">
                <a:latin typeface="Times New Roman"/>
              </a:rPr>
              <a:t> Davies-Bouldin (DBI):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Giảm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từ</a:t>
            </a:r>
            <a:r>
              <a:rPr sz="1600" dirty="0">
                <a:latin typeface="Times New Roman"/>
              </a:rPr>
              <a:t> 1.928 (K=2) </a:t>
            </a:r>
            <a:r>
              <a:rPr sz="1600" dirty="0" err="1">
                <a:latin typeface="Times New Roman"/>
              </a:rPr>
              <a:t>xuống</a:t>
            </a:r>
            <a:r>
              <a:rPr sz="1600" dirty="0">
                <a:latin typeface="Times New Roman"/>
              </a:rPr>
              <a:t> 1.671 (K=3) —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tách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biệt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tốt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hơn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Silhouette Score:</a:t>
            </a:r>
            <a:br>
              <a:rPr sz="1600" dirty="0"/>
            </a:br>
            <a:r>
              <a:rPr sz="1600" dirty="0">
                <a:latin typeface="Times New Roman"/>
              </a:rPr>
              <a:t>  Đạt 0.1709 </a:t>
            </a:r>
            <a:r>
              <a:rPr sz="1600" dirty="0" err="1">
                <a:latin typeface="Times New Roman"/>
              </a:rPr>
              <a:t>tại</a:t>
            </a:r>
            <a:r>
              <a:rPr sz="1600" dirty="0">
                <a:latin typeface="Times New Roman"/>
              </a:rPr>
              <a:t> K=3, </a:t>
            </a:r>
            <a:r>
              <a:rPr sz="1600" dirty="0" err="1">
                <a:latin typeface="Times New Roman"/>
              </a:rPr>
              <a:t>duy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trì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ổn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định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bị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suy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giảm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mạnh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Tính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khả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giải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nghiệp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vụ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K=3 </a:t>
            </a:r>
            <a:r>
              <a:rPr sz="1600" dirty="0" err="1">
                <a:latin typeface="Times New Roman"/>
              </a:rPr>
              <a:t>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xạ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hảo</a:t>
            </a:r>
            <a:r>
              <a:rPr sz="1600" dirty="0">
                <a:latin typeface="Times New Roman"/>
              </a:rPr>
              <a:t> 3 </a:t>
            </a:r>
            <a:r>
              <a:rPr sz="1600" dirty="0" err="1">
                <a:latin typeface="Times New Roman"/>
              </a:rPr>
              <a:t>phân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khúc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thực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tế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của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vận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hành</a:t>
            </a:r>
            <a:r>
              <a:rPr sz="1600" dirty="0">
                <a:latin typeface="Times New Roman"/>
              </a:rPr>
              <a:t>. </a:t>
            </a:r>
            <a:r>
              <a:rPr sz="1600" dirty="0" err="1">
                <a:latin typeface="Times New Roman"/>
              </a:rPr>
              <a:t>Nếu</a:t>
            </a:r>
            <a:r>
              <a:rPr sz="1600" dirty="0">
                <a:latin typeface="Times New Roman"/>
              </a:rPr>
              <a:t> K=4, </a:t>
            </a:r>
            <a:r>
              <a:rPr sz="1600" dirty="0" err="1">
                <a:latin typeface="Times New Roman"/>
              </a:rPr>
              <a:t>các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bị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mảnh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trùng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lặp</a:t>
            </a:r>
            <a:r>
              <a:rPr sz="1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Thí Nghiệm 3: Độ Ổn Định Seed &amp; Chuyển Dịch Mùa (Xuân vs Đông)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9 / 15</a:t>
            </a:r>
          </a:p>
        </p:txBody>
      </p:sp>
      <p:pic>
        <p:nvPicPr>
          <p:cNvPr id="12" name="Picture 11" descr="fig3_seaso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16705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PHÂN TÍCH ĐỘ BỀN VỮNG &amp; CHUYỂN DỊCH MÙA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Độ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ổn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định</a:t>
            </a:r>
            <a:r>
              <a:rPr sz="1600" dirty="0">
                <a:latin typeface="Times New Roman"/>
              </a:rPr>
              <a:t> Seed </a:t>
            </a:r>
            <a:r>
              <a:rPr sz="1600" dirty="0" err="1">
                <a:latin typeface="Times New Roman"/>
              </a:rPr>
              <a:t>ngẫu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nhiên</a:t>
            </a:r>
            <a:r>
              <a:rPr sz="1600" dirty="0">
                <a:latin typeface="Times New Roman"/>
              </a:rPr>
              <a:t> (5 Seeds):</a:t>
            </a:r>
            <a:br>
              <a:rPr sz="1600" dirty="0"/>
            </a:br>
            <a:r>
              <a:rPr sz="1600" dirty="0">
                <a:latin typeface="Times New Roman"/>
              </a:rPr>
              <a:t>  ARI = 0.9984 (</a:t>
            </a:r>
            <a:r>
              <a:rPr sz="1600" dirty="0" err="1">
                <a:latin typeface="Times New Roman"/>
              </a:rPr>
              <a:t>Gần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sát</a:t>
            </a:r>
            <a:r>
              <a:rPr sz="1600" dirty="0">
                <a:latin typeface="Times New Roman"/>
              </a:rPr>
              <a:t> 1.0 </a:t>
            </a:r>
            <a:r>
              <a:rPr sz="1600" dirty="0" err="1">
                <a:latin typeface="Times New Roman"/>
              </a:rPr>
              <a:t>tuyệt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đối</a:t>
            </a:r>
            <a:r>
              <a:rPr sz="1600" dirty="0">
                <a:latin typeface="Times New Roman"/>
              </a:rPr>
              <a:t>!)</a:t>
            </a:r>
            <a:br>
              <a:rPr sz="1600" dirty="0"/>
            </a:br>
            <a:r>
              <a:rPr sz="1600" dirty="0" err="1">
                <a:latin typeface="Times New Roman"/>
              </a:rPr>
              <a:t>Thuật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toán</a:t>
            </a:r>
            <a:r>
              <a:rPr sz="1600" dirty="0">
                <a:latin typeface="Times New Roman"/>
              </a:rPr>
              <a:t> K-Means++ </a:t>
            </a:r>
            <a:r>
              <a:rPr sz="1600" dirty="0" err="1">
                <a:latin typeface="Times New Roman"/>
              </a:rPr>
              <a:t>hội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tụ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cực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kỳ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bền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vững</a:t>
            </a:r>
            <a:r>
              <a:rPr sz="1600" dirty="0">
                <a:latin typeface="Times New Roman"/>
              </a:rPr>
              <a:t>,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phụ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thuộc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khởi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tạo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tâm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Chuyển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dịch</a:t>
            </a:r>
            <a:r>
              <a:rPr sz="1600" dirty="0">
                <a:latin typeface="Times New Roman"/>
              </a:rPr>
              <a:t> 2 </a:t>
            </a:r>
            <a:r>
              <a:rPr sz="1600" dirty="0" err="1">
                <a:latin typeface="Times New Roman"/>
              </a:rPr>
              <a:t>Mùa</a:t>
            </a:r>
            <a:r>
              <a:rPr sz="1600" dirty="0">
                <a:latin typeface="Times New Roman"/>
              </a:rPr>
              <a:t> (T4 Xuân vs T1 Đông):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Khảo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trên</a:t>
            </a:r>
            <a:r>
              <a:rPr sz="1600" dirty="0">
                <a:latin typeface="Times New Roman"/>
              </a:rPr>
              <a:t> 2.129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nhau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giữa</a:t>
            </a:r>
            <a:r>
              <a:rPr sz="1600" dirty="0">
                <a:latin typeface="Times New Roman"/>
              </a:rPr>
              <a:t> 2 </a:t>
            </a:r>
            <a:r>
              <a:rPr sz="1600" dirty="0" err="1">
                <a:latin typeface="Times New Roman"/>
              </a:rPr>
              <a:t>mùa</a:t>
            </a:r>
            <a:r>
              <a:rPr sz="1600" dirty="0">
                <a:latin typeface="Times New Roman"/>
              </a:rPr>
              <a:t>.</a:t>
            </a:r>
            <a:br>
              <a:rPr sz="1600" dirty="0"/>
            </a:br>
            <a:r>
              <a:rPr sz="1600" dirty="0">
                <a:latin typeface="Times New Roman"/>
              </a:rPr>
              <a:t>ARI = 0.3873 | NMI = 0.3345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Bản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hiện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tượng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chuyển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dịch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mùa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Vào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mùa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giá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tuyết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rơi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tại</a:t>
            </a:r>
            <a:r>
              <a:rPr sz="1600" dirty="0">
                <a:latin typeface="Times New Roman"/>
              </a:rPr>
              <a:t> New York, </a:t>
            </a:r>
            <a:r>
              <a:rPr sz="1600" dirty="0" err="1">
                <a:latin typeface="Times New Roman"/>
              </a:rPr>
              <a:t>các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2 (du </a:t>
            </a:r>
            <a:r>
              <a:rPr sz="1600" dirty="0" err="1">
                <a:latin typeface="Times New Roman"/>
              </a:rPr>
              <a:t>lịch</a:t>
            </a:r>
            <a:r>
              <a:rPr sz="1600" dirty="0">
                <a:latin typeface="Times New Roman"/>
              </a:rPr>
              <a:t>/</a:t>
            </a:r>
            <a:r>
              <a:rPr sz="1600" dirty="0" err="1">
                <a:latin typeface="Times New Roman"/>
              </a:rPr>
              <a:t>công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viên</a:t>
            </a:r>
            <a:r>
              <a:rPr sz="1600" dirty="0">
                <a:latin typeface="Times New Roman"/>
              </a:rPr>
              <a:t>) </a:t>
            </a:r>
            <a:r>
              <a:rPr sz="1600" dirty="0" err="1">
                <a:latin typeface="Times New Roman"/>
              </a:rPr>
              <a:t>giảm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mạnh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khách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giải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chuyển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dịch</a:t>
            </a:r>
            <a:r>
              <a:rPr sz="1600" dirty="0">
                <a:latin typeface="Times New Roman"/>
              </a:rPr>
              <a:t> sang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1 (</a:t>
            </a:r>
            <a:r>
              <a:rPr sz="1600" dirty="0" err="1">
                <a:latin typeface="Times New Roman"/>
              </a:rPr>
              <a:t>phục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vụ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người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làm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thiết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yếu</a:t>
            </a:r>
            <a:r>
              <a:rPr sz="1600" dirty="0"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Thí Nghiệm 4: Định Lượng 3 Cụm Bằng Bảng Giá Trị Trung Vị (Median)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10 / 15</a:t>
            </a:r>
          </a:p>
        </p:txBody>
      </p:sp>
      <p:pic>
        <p:nvPicPr>
          <p:cNvPr id="12" name="Picture 11" descr="fig4_cluster_med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40880" y="1325880"/>
            <a:ext cx="43891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508760"/>
            <a:ext cx="402336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ĐẶC TÍNH NGHIỆP VỤ 3 CỤM TRẠM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0 — </a:t>
            </a:r>
            <a:r>
              <a:rPr sz="1600" dirty="0" err="1">
                <a:latin typeface="Times New Roman"/>
              </a:rPr>
              <a:t>Điểm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đến</a:t>
            </a:r>
            <a:r>
              <a:rPr sz="1600" dirty="0">
                <a:latin typeface="Times New Roman"/>
              </a:rPr>
              <a:t> Thương </a:t>
            </a:r>
            <a:r>
              <a:rPr sz="1600" dirty="0" err="1">
                <a:latin typeface="Times New Roman"/>
              </a:rPr>
              <a:t>mại</a:t>
            </a:r>
            <a:r>
              <a:rPr sz="1600" dirty="0">
                <a:latin typeface="Times New Roman"/>
              </a:rPr>
              <a:t> (431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):</a:t>
            </a:r>
            <a:br>
              <a:rPr sz="1600" dirty="0"/>
            </a:b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chiều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nhất</a:t>
            </a:r>
            <a:r>
              <a:rPr sz="1600" dirty="0">
                <a:latin typeface="Times New Roman"/>
              </a:rPr>
              <a:t> (38.42%)</a:t>
            </a:r>
            <a:br>
              <a:rPr sz="1600" dirty="0"/>
            </a:br>
            <a:r>
              <a:rPr sz="1600" dirty="0">
                <a:latin typeface="Times New Roman"/>
              </a:rPr>
              <a:t>Net Flow </a:t>
            </a:r>
            <a:r>
              <a:rPr sz="1600" dirty="0" err="1">
                <a:latin typeface="Times New Roman"/>
              </a:rPr>
              <a:t>sáng</a:t>
            </a:r>
            <a:r>
              <a:rPr sz="1600" dirty="0">
                <a:latin typeface="Times New Roman"/>
              </a:rPr>
              <a:t>: +31.87% (Xe </a:t>
            </a:r>
            <a:r>
              <a:rPr sz="1600" dirty="0" err="1">
                <a:latin typeface="Times New Roman"/>
              </a:rPr>
              <a:t>đổ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về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ngập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bãi</a:t>
            </a:r>
            <a:r>
              <a:rPr sz="1600" dirty="0">
                <a:latin typeface="Times New Roman"/>
              </a:rPr>
              <a:t>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1 — Khu </a:t>
            </a:r>
            <a:r>
              <a:rPr sz="1600" dirty="0" err="1">
                <a:latin typeface="Times New Roman"/>
              </a:rPr>
              <a:t>Dân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cư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làm</a:t>
            </a:r>
            <a:r>
              <a:rPr sz="1600" dirty="0">
                <a:latin typeface="Times New Roman"/>
              </a:rPr>
              <a:t> (1.034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):</a:t>
            </a:r>
            <a:br>
              <a:rPr sz="1600" dirty="0"/>
            </a:b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sáng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nhất</a:t>
            </a:r>
            <a:r>
              <a:rPr sz="1600" dirty="0">
                <a:latin typeface="Times New Roman"/>
              </a:rPr>
              <a:t> (23.33%)</a:t>
            </a:r>
            <a:br>
              <a:rPr sz="1600" dirty="0"/>
            </a:br>
            <a:r>
              <a:rPr sz="1600" dirty="0">
                <a:latin typeface="Times New Roman"/>
              </a:rPr>
              <a:t>Net Flow </a:t>
            </a:r>
            <a:r>
              <a:rPr sz="1600" dirty="0" err="1">
                <a:latin typeface="Times New Roman"/>
              </a:rPr>
              <a:t>sáng</a:t>
            </a:r>
            <a:r>
              <a:rPr sz="1600" dirty="0">
                <a:latin typeface="Times New Roman"/>
              </a:rPr>
              <a:t>: -36.84% (Xe </a:t>
            </a:r>
            <a:r>
              <a:rPr sz="1600" dirty="0" err="1">
                <a:latin typeface="Times New Roman"/>
              </a:rPr>
              <a:t>bị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rút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cạn</a:t>
            </a:r>
            <a:r>
              <a:rPr sz="1600" dirty="0">
                <a:latin typeface="Times New Roman"/>
              </a:rPr>
              <a:t>)</a:t>
            </a:r>
            <a:br>
              <a:rPr sz="1600" dirty="0"/>
            </a:br>
            <a:r>
              <a:rPr sz="1600" dirty="0" err="1">
                <a:latin typeface="Times New Roman"/>
              </a:rPr>
              <a:t>Tỷ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lệ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Hội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viên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nhất</a:t>
            </a:r>
            <a:r>
              <a:rPr sz="1600" dirty="0">
                <a:latin typeface="Times New Roman"/>
              </a:rPr>
              <a:t>: 84.87%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Cụm</a:t>
            </a:r>
            <a:r>
              <a:rPr sz="1600" dirty="0">
                <a:latin typeface="Times New Roman"/>
              </a:rPr>
              <a:t> 2 — </a:t>
            </a:r>
            <a:r>
              <a:rPr sz="1600" dirty="0" err="1">
                <a:latin typeface="Times New Roman"/>
              </a:rPr>
              <a:t>Hỗn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hợp</a:t>
            </a:r>
            <a:r>
              <a:rPr sz="1600" dirty="0">
                <a:latin typeface="Times New Roman"/>
              </a:rPr>
              <a:t> &amp; Vui </a:t>
            </a:r>
            <a:r>
              <a:rPr sz="1600" dirty="0" err="1">
                <a:latin typeface="Times New Roman"/>
              </a:rPr>
              <a:t>chơi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Đêm</a:t>
            </a:r>
            <a:r>
              <a:rPr sz="1600" dirty="0">
                <a:latin typeface="Times New Roman"/>
              </a:rPr>
              <a:t> (764 </a:t>
            </a:r>
            <a:r>
              <a:rPr sz="1600" dirty="0" err="1">
                <a:latin typeface="Times New Roman"/>
              </a:rPr>
              <a:t>trạm</a:t>
            </a:r>
            <a:r>
              <a:rPr sz="1600" dirty="0">
                <a:latin typeface="Times New Roman"/>
              </a:rPr>
              <a:t>):</a:t>
            </a:r>
            <a:br>
              <a:rPr sz="1600" dirty="0"/>
            </a:br>
            <a:r>
              <a:rPr sz="1600" dirty="0" err="1">
                <a:latin typeface="Times New Roman"/>
              </a:rPr>
              <a:t>Hoạt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đêm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nhất</a:t>
            </a:r>
            <a:r>
              <a:rPr sz="1600" dirty="0">
                <a:latin typeface="Times New Roman"/>
              </a:rPr>
              <a:t> (21.88%)</a:t>
            </a:r>
            <a:br>
              <a:rPr sz="1600" dirty="0"/>
            </a:br>
            <a:r>
              <a:rPr sz="1600" dirty="0" err="1">
                <a:latin typeface="Times New Roman"/>
              </a:rPr>
              <a:t>Cuối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tuần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nhất</a:t>
            </a:r>
            <a:r>
              <a:rPr sz="1600" dirty="0">
                <a:latin typeface="Times New Roman"/>
              </a:rPr>
              <a:t>: 23.46%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Kết Quả Nghiệm Thu Trên Tập Test Độc Lập (N = 335 Trạm)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11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33832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SILHOUETTE SCORE</a:t>
            </a:r>
          </a:p>
          <a:p>
            <a:pPr>
              <a:spcBef>
                <a:spcPts val="600"/>
              </a:spcBef>
              <a:defRPr sz="2800" b="1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0.1638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Chỉ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giảm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nhẹ</a:t>
            </a:r>
            <a:r>
              <a:rPr dirty="0">
                <a:latin typeface="Times New Roman"/>
              </a:rPr>
              <a:t> &lt; 4% so </a:t>
            </a:r>
            <a:r>
              <a:rPr dirty="0" err="1">
                <a:latin typeface="Times New Roman"/>
              </a:rPr>
              <a:t>với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tập</a:t>
            </a:r>
            <a:r>
              <a:rPr dirty="0">
                <a:latin typeface="Times New Roman"/>
              </a:rPr>
              <a:t> Validation (0.1709). </a:t>
            </a:r>
            <a:r>
              <a:rPr dirty="0" err="1">
                <a:latin typeface="Times New Roman"/>
              </a:rPr>
              <a:t>Khả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năng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tổng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quát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hóa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xuất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sắc</a:t>
            </a:r>
            <a:r>
              <a:rPr dirty="0"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DAVIES-BOULDIN INDEX</a:t>
            </a:r>
          </a:p>
          <a:p>
            <a:pPr>
              <a:spcBef>
                <a:spcPts val="600"/>
              </a:spcBef>
              <a:defRPr sz="28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1.8154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Cụm duy trì sự gắn kết nội cụm và phân tách ngoại cụm ổn định trên dữ liệu hoàn toàn mới.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3832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ĐỘC LẬP 100%</a:t>
            </a:r>
          </a:p>
          <a:p>
            <a:pPr>
              <a:spcBef>
                <a:spcPts val="600"/>
              </a:spcBef>
              <a:defRPr sz="2800" b="1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335 </a:t>
            </a:r>
            <a:r>
              <a:rPr dirty="0" err="1">
                <a:latin typeface="Times New Roman"/>
              </a:rPr>
              <a:t>Trạm</a:t>
            </a:r>
            <a:endParaRPr dirty="0">
              <a:latin typeface="Times New Roman"/>
            </a:endParaRP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Times New Roman"/>
              </a:defRPr>
            </a:pPr>
            <a:r>
              <a:rPr dirty="0" err="1">
                <a:latin typeface="Times New Roman"/>
              </a:rPr>
              <a:t>Tập</a:t>
            </a:r>
            <a:r>
              <a:rPr dirty="0">
                <a:latin typeface="Times New Roman"/>
              </a:rPr>
              <a:t> Test </a:t>
            </a:r>
            <a:r>
              <a:rPr dirty="0" err="1">
                <a:latin typeface="Times New Roman"/>
              </a:rPr>
              <a:t>được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niêm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phong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tuyệt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đối</a:t>
            </a:r>
            <a:r>
              <a:rPr dirty="0">
                <a:latin typeface="Times New Roman"/>
              </a:rPr>
              <a:t>, </a:t>
            </a:r>
            <a:r>
              <a:rPr dirty="0" err="1">
                <a:latin typeface="Times New Roman"/>
              </a:rPr>
              <a:t>chứng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minh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quy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trình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học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máy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không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rò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rỉ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dữ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liệu</a:t>
            </a:r>
            <a:r>
              <a:rPr dirty="0">
                <a:latin typeface="Times New Roman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698480" cy="21031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1024128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700" dirty="0">
                <a:latin typeface="Times New Roman"/>
              </a:rPr>
              <a:t>KẾT LUẬN NGHIỆM THU HỌC MÁY: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 sz="1700" dirty="0" err="1">
                <a:latin typeface="Times New Roman"/>
              </a:rPr>
              <a:t>Mô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hình</a:t>
            </a:r>
            <a:r>
              <a:rPr sz="1700" dirty="0">
                <a:latin typeface="Times New Roman"/>
              </a:rPr>
              <a:t> K-Means (K=3) </a:t>
            </a:r>
            <a:r>
              <a:rPr sz="1700" dirty="0" err="1">
                <a:latin typeface="Times New Roman"/>
              </a:rPr>
              <a:t>với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chuẩn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hóa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StandardScaler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đã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vượt</a:t>
            </a:r>
            <a:r>
              <a:rPr sz="1700" dirty="0">
                <a:latin typeface="Times New Roman"/>
              </a:rPr>
              <a:t> qua </a:t>
            </a:r>
            <a:r>
              <a:rPr sz="1700" dirty="0" err="1">
                <a:latin typeface="Times New Roman"/>
              </a:rPr>
              <a:t>toàn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bộ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các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bài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kiểm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thực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nghiệm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nghiêm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ngặt</a:t>
            </a:r>
            <a:r>
              <a:rPr sz="1700" dirty="0">
                <a:latin typeface="Times New Roman"/>
              </a:rPr>
              <a:t>: </a:t>
            </a:r>
            <a:r>
              <a:rPr sz="1700" dirty="0" err="1">
                <a:latin typeface="Times New Roman"/>
              </a:rPr>
              <a:t>không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xảy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ra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hiện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tượng</a:t>
            </a:r>
            <a:r>
              <a:rPr sz="1700" dirty="0">
                <a:latin typeface="Times New Roman"/>
              </a:rPr>
              <a:t> Overfitting, </a:t>
            </a:r>
            <a:r>
              <a:rPr sz="1700" dirty="0" err="1">
                <a:latin typeface="Times New Roman"/>
              </a:rPr>
              <a:t>phản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ánh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chân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thực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nhịp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sống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đô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thị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và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sẵn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sàng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triển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khai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phục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vụ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hệ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thống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điều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phối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xe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thời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gian</a:t>
            </a:r>
            <a:r>
              <a:rPr sz="1700" dirty="0">
                <a:latin typeface="Times New Roman"/>
              </a:rPr>
              <a:t> </a:t>
            </a:r>
            <a:r>
              <a:rPr sz="1700" dirty="0" err="1">
                <a:latin typeface="Times New Roman"/>
              </a:rPr>
              <a:t>thực</a:t>
            </a:r>
            <a:r>
              <a:rPr sz="17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Kiến Trúc Serving: Tách Biệt Offline Training &amp; Online Serving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12 / 15</a:t>
            </a:r>
          </a:p>
        </p:txBody>
      </p:sp>
      <p:pic>
        <p:nvPicPr>
          <p:cNvPr id="12" name="Picture 11" descr="fig4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39159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23760" y="1325880"/>
            <a:ext cx="42062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508760"/>
            <a:ext cx="384048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NGUYÊN TẮC THIẾT KẾ SERVING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✔ </a:t>
            </a:r>
            <a:r>
              <a:rPr sz="1600" dirty="0" err="1">
                <a:latin typeface="Times New Roman"/>
              </a:rPr>
              <a:t>Tách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biệt</a:t>
            </a:r>
            <a:r>
              <a:rPr sz="1600" dirty="0">
                <a:latin typeface="Times New Roman"/>
              </a:rPr>
              <a:t> Offline - Online: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Quá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trình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tiền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lý</a:t>
            </a:r>
            <a:r>
              <a:rPr sz="1600" dirty="0">
                <a:latin typeface="Times New Roman"/>
              </a:rPr>
              <a:t> 5.6M </a:t>
            </a:r>
            <a:r>
              <a:rPr sz="1600" dirty="0" err="1">
                <a:latin typeface="Times New Roman"/>
              </a:rPr>
              <a:t>bản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ghi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huấn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luyện</a:t>
            </a:r>
            <a:r>
              <a:rPr sz="1600" dirty="0">
                <a:latin typeface="Times New Roman"/>
              </a:rPr>
              <a:t> K-Means </a:t>
            </a:r>
            <a:r>
              <a:rPr sz="1600" dirty="0" err="1">
                <a:latin typeface="Times New Roman"/>
              </a:rPr>
              <a:t>diễn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ra</a:t>
            </a:r>
            <a:r>
              <a:rPr sz="1600" dirty="0">
                <a:latin typeface="Times New Roman"/>
              </a:rPr>
              <a:t> offline. Online server </a:t>
            </a:r>
            <a:r>
              <a:rPr sz="1600" dirty="0" err="1">
                <a:latin typeface="Times New Roman"/>
              </a:rPr>
              <a:t>chỉ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nạp</a:t>
            </a:r>
            <a:r>
              <a:rPr sz="1600" dirty="0">
                <a:latin typeface="Times New Roman"/>
              </a:rPr>
              <a:t> model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profile </a:t>
            </a:r>
            <a:r>
              <a:rPr sz="1600" dirty="0" err="1">
                <a:latin typeface="Times New Roman"/>
              </a:rPr>
              <a:t>đã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tính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sẵn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✔ Backend </a:t>
            </a:r>
            <a:r>
              <a:rPr sz="1600" dirty="0" err="1">
                <a:latin typeface="Times New Roman"/>
              </a:rPr>
              <a:t>FastAPI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Hiện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đại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Hiệu </a:t>
            </a:r>
            <a:r>
              <a:rPr sz="1600" dirty="0" err="1">
                <a:latin typeface="Times New Roman"/>
              </a:rPr>
              <a:t>năng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cao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trên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nền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máy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chủ</a:t>
            </a:r>
            <a:r>
              <a:rPr sz="1600" dirty="0">
                <a:latin typeface="Times New Roman"/>
              </a:rPr>
              <a:t> ASGI </a:t>
            </a:r>
            <a:r>
              <a:rPr sz="1600" dirty="0" err="1">
                <a:latin typeface="Times New Roman"/>
              </a:rPr>
              <a:t>Uvicorn</a:t>
            </a:r>
            <a:r>
              <a:rPr sz="1600" dirty="0">
                <a:latin typeface="Times New Roman"/>
              </a:rPr>
              <a:t>, </a:t>
            </a:r>
            <a:r>
              <a:rPr sz="1600" dirty="0" err="1">
                <a:latin typeface="Times New Roman"/>
              </a:rPr>
              <a:t>hỗ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trợ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Pydantic</a:t>
            </a:r>
            <a:r>
              <a:rPr sz="1600" dirty="0">
                <a:latin typeface="Times New Roman"/>
              </a:rPr>
              <a:t> data validation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quản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lý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vòng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đời</a:t>
            </a:r>
            <a:r>
              <a:rPr sz="1600" dirty="0">
                <a:latin typeface="Times New Roman"/>
              </a:rPr>
              <a:t> Lifespan.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✔ </a:t>
            </a:r>
            <a:r>
              <a:rPr sz="1600" dirty="0" err="1">
                <a:latin typeface="Times New Roman"/>
              </a:rPr>
              <a:t>Tốc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hồi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cực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nhanh</a:t>
            </a:r>
            <a:r>
              <a:rPr sz="1600" dirty="0">
                <a:latin typeface="Times New Roman"/>
              </a:rPr>
              <a:t>:</a:t>
            </a:r>
            <a:br>
              <a:rPr sz="1600" dirty="0"/>
            </a:br>
            <a:r>
              <a:rPr sz="1600" dirty="0">
                <a:latin typeface="Times New Roman"/>
              </a:rPr>
              <a:t>  </a:t>
            </a:r>
            <a:r>
              <a:rPr sz="1600" dirty="0" err="1">
                <a:latin typeface="Times New Roman"/>
              </a:rPr>
              <a:t>Thời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gian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hồi</a:t>
            </a:r>
            <a:r>
              <a:rPr sz="1600" dirty="0">
                <a:latin typeface="Times New Roman"/>
              </a:rPr>
              <a:t> API &lt; 15ms; </a:t>
            </a:r>
            <a:r>
              <a:rPr sz="1600" dirty="0" err="1">
                <a:latin typeface="Times New Roman"/>
              </a:rPr>
              <a:t>không</a:t>
            </a:r>
            <a:r>
              <a:rPr sz="1600" dirty="0">
                <a:latin typeface="Times New Roman"/>
              </a:rPr>
              <a:t> bao </a:t>
            </a:r>
            <a:r>
              <a:rPr sz="1600" dirty="0" err="1">
                <a:latin typeface="Times New Roman"/>
              </a:rPr>
              <a:t>giờ</a:t>
            </a:r>
            <a:r>
              <a:rPr sz="1600" dirty="0">
                <a:latin typeface="Times New Roman"/>
              </a:rPr>
              <a:t> train </a:t>
            </a:r>
            <a:r>
              <a:rPr sz="1600" dirty="0" err="1">
                <a:latin typeface="Times New Roman"/>
              </a:rPr>
              <a:t>lại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mô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hình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có</a:t>
            </a:r>
            <a:r>
              <a:rPr sz="1600" dirty="0">
                <a:latin typeface="Times New Roman"/>
              </a:rPr>
              <a:t> request </a:t>
            </a:r>
            <a:r>
              <a:rPr sz="1600" dirty="0" err="1">
                <a:latin typeface="Times New Roman"/>
              </a:rPr>
              <a:t>người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dùng</a:t>
            </a:r>
            <a:r>
              <a:rPr sz="1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Trực Quan Hóa Giao Diện Web Tương Tác (3 Màn Hình)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13 / 15</a:t>
            </a:r>
          </a:p>
        </p:txBody>
      </p:sp>
      <p:pic>
        <p:nvPicPr>
          <p:cNvPr id="12" name="Picture 11" descr="fig4_2_screen1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383280" cy="1674553"/>
          </a:xfrm>
          <a:prstGeom prst="rect">
            <a:avLst/>
          </a:prstGeom>
        </p:spPr>
      </p:pic>
      <p:pic>
        <p:nvPicPr>
          <p:cNvPr id="13" name="Picture 12" descr="fig4_3_screen2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383280" cy="1846084"/>
          </a:xfrm>
          <a:prstGeom prst="rect">
            <a:avLst/>
          </a:prstGeom>
        </p:spPr>
      </p:pic>
      <p:pic>
        <p:nvPicPr>
          <p:cNvPr id="14" name="Picture 13" descr="fig4_4_screen3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383280" cy="175739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4892040"/>
            <a:ext cx="33832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5604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Màn hình 1: Tổng quan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Bài toán, phạm vi dữ liệu và giải thích chi tiết 3 cụm.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92040"/>
            <a:ext cx="33832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495604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Màn hình 2: Bản đồ Leaflet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Bản đồ tương tác 2.200 trạm, lọc cụm và mô phỏng trạm mới.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92040"/>
            <a:ext cx="33832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495604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Màn hình 3: Dashboard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Trực quan hóa 4 thí nghiệm và tiêu chuẩn Model Card.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HỌC PHẦN: HỌC MÁY CƠ BẢN • PROJECT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Kiểm Thử Tự Động (Automated Testing) — 7/7 Test Cases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14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106984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BỘ KIỂM THỬ TỰ ĐỘNG TẠI tests/test_api.py (FASTAPI TESTCLIENT):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test_get_stations_april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Xác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thực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danh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sách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Tháng</a:t>
            </a:r>
            <a:r>
              <a:rPr dirty="0">
                <a:latin typeface="Times New Roman"/>
              </a:rPr>
              <a:t> 04/2026 </a:t>
            </a:r>
            <a:r>
              <a:rPr dirty="0" err="1">
                <a:latin typeface="Times New Roman"/>
              </a:rPr>
              <a:t>trả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về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đầy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đủ</a:t>
            </a:r>
            <a:r>
              <a:rPr dirty="0">
                <a:latin typeface="Times New Roman"/>
              </a:rPr>
              <a:t> 2.229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và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đúng</a:t>
            </a:r>
            <a:r>
              <a:rPr dirty="0">
                <a:latin typeface="Times New Roman"/>
              </a:rPr>
              <a:t> schema.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test_get_stations_january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Xác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thực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danh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sách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Tháng</a:t>
            </a:r>
            <a:r>
              <a:rPr dirty="0">
                <a:latin typeface="Times New Roman"/>
              </a:rPr>
              <a:t> 01/2026 </a:t>
            </a:r>
            <a:r>
              <a:rPr dirty="0" err="1">
                <a:latin typeface="Times New Roman"/>
              </a:rPr>
              <a:t>trả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về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đầy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đủ</a:t>
            </a:r>
            <a:r>
              <a:rPr dirty="0">
                <a:latin typeface="Times New Roman"/>
              </a:rPr>
              <a:t> 2.143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test_filter_by_cluster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Kiểm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tra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bộ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lọc</a:t>
            </a:r>
            <a:r>
              <a:rPr dirty="0">
                <a:latin typeface="Times New Roman"/>
              </a:rPr>
              <a:t> cluster=1 </a:t>
            </a:r>
            <a:r>
              <a:rPr dirty="0" err="1">
                <a:latin typeface="Times New Roman"/>
              </a:rPr>
              <a:t>trả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về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chính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xác</a:t>
            </a:r>
            <a:r>
              <a:rPr dirty="0">
                <a:latin typeface="Times New Roman"/>
              </a:rPr>
              <a:t> 1.034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khu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dân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cư</a:t>
            </a:r>
            <a:r>
              <a:rPr dirty="0">
                <a:latin typeface="Times New Roman"/>
              </a:rPr>
              <a:t>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test_get_station_detail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Kiểm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tra</a:t>
            </a:r>
            <a:r>
              <a:rPr dirty="0">
                <a:latin typeface="Times New Roman"/>
              </a:rPr>
              <a:t> endpoint chi </a:t>
            </a:r>
            <a:r>
              <a:rPr dirty="0" err="1">
                <a:latin typeface="Times New Roman"/>
              </a:rPr>
              <a:t>tiết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trạm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về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đúng</a:t>
            </a:r>
            <a:r>
              <a:rPr dirty="0">
                <a:latin typeface="Times New Roman"/>
              </a:rPr>
              <a:t> ID </a:t>
            </a:r>
            <a:r>
              <a:rPr dirty="0" err="1">
                <a:latin typeface="Times New Roman"/>
              </a:rPr>
              <a:t>và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đầy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đủ</a:t>
            </a:r>
            <a:r>
              <a:rPr dirty="0">
                <a:latin typeface="Times New Roman"/>
              </a:rPr>
              <a:t> 8 </a:t>
            </a:r>
            <a:r>
              <a:rPr dirty="0" err="1">
                <a:latin typeface="Times New Roman"/>
              </a:rPr>
              <a:t>trường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đặc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trưng</a:t>
            </a:r>
            <a:r>
              <a:rPr dirty="0">
                <a:latin typeface="Times New Roman"/>
              </a:rPr>
              <a:t>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test_metrics_endpoint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Kiểm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tra</a:t>
            </a:r>
            <a:r>
              <a:rPr dirty="0">
                <a:latin typeface="Times New Roman"/>
              </a:rPr>
              <a:t> API Metrics </a:t>
            </a:r>
            <a:r>
              <a:rPr dirty="0" err="1">
                <a:latin typeface="Times New Roman"/>
              </a:rPr>
              <a:t>trả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về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kết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quả</a:t>
            </a:r>
            <a:r>
              <a:rPr dirty="0">
                <a:latin typeface="Times New Roman"/>
              </a:rPr>
              <a:t> 4 </a:t>
            </a:r>
            <a:r>
              <a:rPr dirty="0" err="1">
                <a:latin typeface="Times New Roman"/>
              </a:rPr>
              <a:t>thí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nghiệm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và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k_selected</a:t>
            </a:r>
            <a:r>
              <a:rPr dirty="0">
                <a:latin typeface="Times New Roman"/>
              </a:rPr>
              <a:t>=3.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test_model_card_endpoint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Kiểm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tra</a:t>
            </a:r>
            <a:r>
              <a:rPr dirty="0">
                <a:latin typeface="Times New Roman"/>
              </a:rPr>
              <a:t> API Model Card </a:t>
            </a:r>
            <a:r>
              <a:rPr dirty="0" err="1">
                <a:latin typeface="Times New Roman"/>
              </a:rPr>
              <a:t>tài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liệu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hóa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mô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hình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và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giới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hạn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áp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dụng</a:t>
            </a:r>
            <a:r>
              <a:rPr dirty="0">
                <a:latin typeface="Times New Roman"/>
              </a:rPr>
              <a:t>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dirty="0">
                <a:latin typeface="Times New Roman"/>
              </a:rPr>
              <a:t>✔ [PASS]  </a:t>
            </a:r>
            <a:r>
              <a:rPr dirty="0" err="1">
                <a:latin typeface="Times New Roman"/>
              </a:rPr>
              <a:t>test_error_handling</a:t>
            </a:r>
            <a:r>
              <a:rPr dirty="0">
                <a:latin typeface="Times New Roman"/>
              </a:rPr>
              <a:t>:  </a:t>
            </a:r>
            <a:r>
              <a:rPr dirty="0" err="1">
                <a:latin typeface="Times New Roman"/>
              </a:rPr>
              <a:t>Kiểm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tra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xử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lý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lỗi</a:t>
            </a:r>
            <a:r>
              <a:rPr dirty="0">
                <a:latin typeface="Times New Roman"/>
              </a:rPr>
              <a:t> HTTP 404 (</a:t>
            </a:r>
            <a:r>
              <a:rPr dirty="0" err="1">
                <a:latin typeface="Times New Roman"/>
              </a:rPr>
              <a:t>tháng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không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tồn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tại</a:t>
            </a:r>
            <a:r>
              <a:rPr dirty="0">
                <a:latin typeface="Times New Roman"/>
              </a:rPr>
              <a:t>) </a:t>
            </a:r>
            <a:r>
              <a:rPr dirty="0" err="1">
                <a:latin typeface="Times New Roman"/>
              </a:rPr>
              <a:t>và</a:t>
            </a:r>
            <a:r>
              <a:rPr dirty="0">
                <a:latin typeface="Times New Roman"/>
              </a:rPr>
              <a:t> 422 (</a:t>
            </a:r>
            <a:r>
              <a:rPr dirty="0" err="1">
                <a:latin typeface="Times New Roman"/>
              </a:rPr>
              <a:t>mã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cụm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không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hợp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lệ</a:t>
            </a:r>
            <a:r>
              <a:rPr dirty="0"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TỔNG KẾT BÁO CÁO BÀI TẬP LỚN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Kết Luận &amp; Hướng Phát Triển Đề Tài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15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475488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KẾT QUẢ ĐẠT ĐƯỢC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Xây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dựng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thành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công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quy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trình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học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máy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chuẩn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mực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từ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dữ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liệu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thô</a:t>
            </a:r>
            <a:r>
              <a:rPr sz="1600" dirty="0">
                <a:latin typeface="Times New Roman"/>
              </a:rPr>
              <a:t> 5.6M </a:t>
            </a:r>
            <a:r>
              <a:rPr sz="1600" dirty="0" err="1">
                <a:latin typeface="Times New Roman"/>
              </a:rPr>
              <a:t>chuyến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Chống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rò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rỉ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dữ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liệu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tuyệt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với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phân</a:t>
            </a:r>
            <a:r>
              <a:rPr sz="1600" dirty="0">
                <a:latin typeface="Times New Roman"/>
              </a:rPr>
              <a:t> chia Train/Val/Test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StandardScaler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Hoàn </a:t>
            </a:r>
            <a:r>
              <a:rPr sz="1600" dirty="0" err="1">
                <a:latin typeface="Times New Roman"/>
              </a:rPr>
              <a:t>thành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xuất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sắc</a:t>
            </a:r>
            <a:r>
              <a:rPr sz="1600" dirty="0">
                <a:latin typeface="Times New Roman"/>
              </a:rPr>
              <a:t> 4 </a:t>
            </a:r>
            <a:r>
              <a:rPr sz="1600" dirty="0" err="1">
                <a:latin typeface="Times New Roman"/>
              </a:rPr>
              <a:t>thí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nghiệm</a:t>
            </a:r>
            <a:r>
              <a:rPr sz="1600" dirty="0">
                <a:latin typeface="Times New Roman"/>
              </a:rPr>
              <a:t> khoa </a:t>
            </a:r>
            <a:r>
              <a:rPr sz="1600" dirty="0" err="1">
                <a:latin typeface="Times New Roman"/>
              </a:rPr>
              <a:t>học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theo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đúng</a:t>
            </a:r>
            <a:r>
              <a:rPr sz="1600" dirty="0">
                <a:latin typeface="Times New Roman"/>
              </a:rPr>
              <a:t> rubric </a:t>
            </a:r>
            <a:r>
              <a:rPr sz="1600" dirty="0" err="1">
                <a:latin typeface="Times New Roman"/>
              </a:rPr>
              <a:t>đề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tài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Bài</a:t>
            </a:r>
            <a:r>
              <a:rPr sz="1600" dirty="0">
                <a:latin typeface="Times New Roman"/>
              </a:rPr>
              <a:t> 8.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• </a:t>
            </a:r>
            <a:r>
              <a:rPr sz="1600" dirty="0" err="1">
                <a:latin typeface="Times New Roman"/>
              </a:rPr>
              <a:t>Đóng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gói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sản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phẩm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hoàn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chỉnh</a:t>
            </a:r>
            <a:r>
              <a:rPr sz="1600" dirty="0">
                <a:latin typeface="Times New Roman"/>
              </a:rPr>
              <a:t>: </a:t>
            </a:r>
            <a:r>
              <a:rPr sz="1600" dirty="0" err="1">
                <a:latin typeface="Times New Roman"/>
              </a:rPr>
              <a:t>FastAPI</a:t>
            </a:r>
            <a:r>
              <a:rPr sz="1600" dirty="0">
                <a:latin typeface="Times New Roman"/>
              </a:rPr>
              <a:t> Backend </a:t>
            </a:r>
            <a:r>
              <a:rPr sz="1600" dirty="0" err="1">
                <a:latin typeface="Times New Roman"/>
              </a:rPr>
              <a:t>và</a:t>
            </a:r>
            <a:r>
              <a:rPr sz="1600" dirty="0">
                <a:latin typeface="Times New Roman"/>
              </a:rPr>
              <a:t> Giao </a:t>
            </a:r>
            <a:r>
              <a:rPr sz="1600" dirty="0" err="1">
                <a:latin typeface="Times New Roman"/>
              </a:rPr>
              <a:t>diện</a:t>
            </a:r>
            <a:r>
              <a:rPr sz="1600" dirty="0">
                <a:latin typeface="Times New Roman"/>
              </a:rPr>
              <a:t> Web 3 </a:t>
            </a:r>
            <a:r>
              <a:rPr sz="1600" dirty="0" err="1">
                <a:latin typeface="Times New Roman"/>
              </a:rPr>
              <a:t>màn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hình</a:t>
            </a:r>
            <a:r>
              <a:rPr sz="1600" dirty="0"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501902"/>
            <a:ext cx="48463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HƯỚNG PHÁT TRIỂN &amp; THẢO LUẬN (Q&amp;A)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Tích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hợp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thêm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dữ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liệu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thời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tiết</a:t>
            </a:r>
            <a:r>
              <a:rPr sz="1600" dirty="0">
                <a:latin typeface="Times New Roman"/>
              </a:rPr>
              <a:t> (</a:t>
            </a:r>
            <a:r>
              <a:rPr sz="1600" dirty="0" err="1">
                <a:latin typeface="Times New Roman"/>
              </a:rPr>
              <a:t>nhiệt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</a:t>
            </a:r>
            <a:r>
              <a:rPr sz="1600" dirty="0">
                <a:latin typeface="Times New Roman"/>
              </a:rPr>
              <a:t>, </a:t>
            </a:r>
            <a:r>
              <a:rPr sz="1600" dirty="0" err="1">
                <a:latin typeface="Times New Roman"/>
              </a:rPr>
              <a:t>lượng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mưa</a:t>
            </a:r>
            <a:r>
              <a:rPr sz="1600" dirty="0">
                <a:latin typeface="Times New Roman"/>
              </a:rPr>
              <a:t>) </a:t>
            </a:r>
            <a:r>
              <a:rPr sz="1600" dirty="0" err="1">
                <a:latin typeface="Times New Roman"/>
              </a:rPr>
              <a:t>để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dự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báo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cầu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động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Mở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rộng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mô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hình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dự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đoán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nhu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cầu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luân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chuyển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xe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theo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từng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khung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giờ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trong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ngày</a:t>
            </a:r>
            <a:r>
              <a:rPr sz="1600" dirty="0">
                <a:latin typeface="Times New Roman"/>
              </a:rPr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600" dirty="0">
                <a:latin typeface="Times New Roman"/>
              </a:rPr>
              <a:t>★ </a:t>
            </a:r>
            <a:r>
              <a:rPr sz="1600" dirty="0" err="1">
                <a:latin typeface="Times New Roman"/>
              </a:rPr>
              <a:t>Tối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ưu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hóa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thuật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toán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định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tuyến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cho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xe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tải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điều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phối</a:t>
            </a:r>
            <a:r>
              <a:rPr sz="1600" dirty="0">
                <a:latin typeface="Times New Roman"/>
              </a:rPr>
              <a:t> (Vehicle Routing Problem).</a:t>
            </a:r>
          </a:p>
          <a:p>
            <a:br>
              <a:rPr sz="1600" dirty="0"/>
            </a:br>
            <a:endParaRPr sz="1600" dirty="0"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CEF3-2BEB-88FF-6E3A-458A953B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CE8E6F-80EF-9607-4CB8-6F4CBAF39A3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DF0B6-785A-2678-D670-C2187A11F3EB}"/>
              </a:ext>
            </a:extLst>
          </p:cNvPr>
          <p:cNvSpPr txBox="1"/>
          <p:nvPr/>
        </p:nvSpPr>
        <p:spPr>
          <a:xfrm>
            <a:off x="731520" y="25603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TRƯỜNG ĐẠI HỌC CÔNG NGHỆ KỸ THUẬT HƯNG YÊN  •  TỔNG KẾT BÁO CÁO BÀI TẬP LỚN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CFEDB-F84E-9FD0-935C-EF15396F1137}"/>
              </a:ext>
            </a:extLst>
          </p:cNvPr>
          <p:cNvSpPr/>
          <p:nvPr/>
        </p:nvSpPr>
        <p:spPr>
          <a:xfrm>
            <a:off x="731520" y="548640"/>
            <a:ext cx="7315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4A968-375C-FA75-77F7-2A3BB7CC5504}"/>
              </a:ext>
            </a:extLst>
          </p:cNvPr>
          <p:cNvSpPr/>
          <p:nvPr/>
        </p:nvSpPr>
        <p:spPr>
          <a:xfrm>
            <a:off x="731520" y="10972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83B96-2C8D-457E-D44A-52639ABC30AA}"/>
              </a:ext>
            </a:extLst>
          </p:cNvPr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FABF1-3516-E6EE-4484-852AFC717B04}"/>
              </a:ext>
            </a:extLst>
          </p:cNvPr>
          <p:cNvSpPr txBox="1"/>
          <p:nvPr/>
        </p:nvSpPr>
        <p:spPr>
          <a:xfrm>
            <a:off x="731520" y="6446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BTL Học máy: Phân nhóm trạm Citi Bike theo hồ sơ sử dụng (Project 23)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1C743-F8E2-BD49-4A3B-4060BDDFEE53}"/>
              </a:ext>
            </a:extLst>
          </p:cNvPr>
          <p:cNvSpPr txBox="1"/>
          <p:nvPr/>
        </p:nvSpPr>
        <p:spPr>
          <a:xfrm>
            <a:off x="512064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SV: Lưu Văn Đức Anh (12523001)  |  GVHD: PGS. TS. Nguyễn Văn Hậu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34176-557B-9B7B-FFE7-57D75D5A087C}"/>
              </a:ext>
            </a:extLst>
          </p:cNvPr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Times New Roman"/>
              </a:defRPr>
            </a:pPr>
            <a:r>
              <a:rPr>
                <a:latin typeface="Times New Roman"/>
              </a:rPr>
              <a:t>Trang 15 / 15</a:t>
            </a:r>
          </a:p>
        </p:txBody>
      </p:sp>
    </p:spTree>
    <p:extLst>
      <p:ext uri="{BB962C8B-B14F-4D97-AF65-F5344CB8AC3E}">
        <p14:creationId xmlns:p14="http://schemas.microsoft.com/office/powerpoint/2010/main" val="247075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3464</Words>
  <Application>Microsoft Office PowerPoint</Application>
  <PresentationFormat>Widescreen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LuuVan DucAnh</cp:lastModifiedBy>
  <cp:revision>3</cp:revision>
  <dcterms:created xsi:type="dcterms:W3CDTF">2013-01-27T09:14:16Z</dcterms:created>
  <dcterms:modified xsi:type="dcterms:W3CDTF">2026-10-12T04:14:37Z</dcterms:modified>
  <cp:category/>
</cp:coreProperties>
</file>